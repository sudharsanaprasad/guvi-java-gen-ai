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bd6193786f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bd6193786f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a:t>
            </a:r>
            <a:br>
              <a:rPr lang="en"/>
            </a:br>
            <a:r>
              <a:rPr lang="en"/>
              <a:t>[/Sources]</a:t>
            </a:r>
            <a:endParaRPr/>
          </a:p>
        </p:txBody>
      </p:sp>
      <p:sp>
        <p:nvSpPr>
          <p:cNvPr id="55" name="Google Shape;55;g3bd6193786f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d6193786f_2_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g3bd6193786f_2_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a:t>
            </a:r>
            <a:br>
              <a:rPr lang="en"/>
            </a:br>
            <a:r>
              <a:rPr lang="en"/>
              <a:t>[/Sources]</a:t>
            </a:r>
            <a:endParaRPr/>
          </a:p>
        </p:txBody>
      </p:sp>
      <p:sp>
        <p:nvSpPr>
          <p:cNvPr id="63" name="Google Shape;63;g3bd6193786f_2_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d6193786f_2_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g3bd6193786f_2_1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https://www.mongodb.com/docs/atlas/</a:t>
            </a:r>
            <a:br>
              <a:rPr lang="en"/>
            </a:br>
            <a:r>
              <a:rPr lang="en"/>
              <a:t>https://www.mongodb.com/docs/compass/</a:t>
            </a:r>
            <a:br>
              <a:rPr lang="en"/>
            </a:br>
            <a:r>
              <a:rPr lang="en"/>
              <a:t>[/Sources]</a:t>
            </a:r>
            <a:endParaRPr/>
          </a:p>
        </p:txBody>
      </p:sp>
      <p:sp>
        <p:nvSpPr>
          <p:cNvPr id="73" name="Google Shape;73;g3bd6193786f_2_1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d6193786f_2_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g3bd6193786f_2_2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https://www.mongodb.com/docs/atlas/</a:t>
            </a:r>
            <a:br>
              <a:rPr lang="en"/>
            </a:br>
            <a:r>
              <a:rPr lang="en"/>
              <a:t>[/Sources]</a:t>
            </a:r>
            <a:endParaRPr/>
          </a:p>
        </p:txBody>
      </p:sp>
      <p:sp>
        <p:nvSpPr>
          <p:cNvPr id="79" name="Google Shape;79;g3bd6193786f_2_2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bd6193786f_2_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g3bd6193786f_2_3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https://www.mongodb.com/docs/atlas/security-ip-access-list/</a:t>
            </a:r>
            <a:br>
              <a:rPr lang="en"/>
            </a:br>
            <a:r>
              <a:rPr lang="en"/>
              <a:t>[/Sources]</a:t>
            </a:r>
            <a:endParaRPr/>
          </a:p>
        </p:txBody>
      </p:sp>
      <p:sp>
        <p:nvSpPr>
          <p:cNvPr id="86" name="Google Shape;86;g3bd6193786f_2_3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d6193786f_2_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bd6193786f_2_4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https://www.mongodb.com/docs/atlas/security-ip-access-list/</a:t>
            </a:r>
            <a:br>
              <a:rPr lang="en"/>
            </a:br>
            <a:r>
              <a:rPr lang="en"/>
              <a:t>[/Sources]</a:t>
            </a:r>
            <a:endParaRPr/>
          </a:p>
        </p:txBody>
      </p:sp>
      <p:sp>
        <p:nvSpPr>
          <p:cNvPr id="98" name="Google Shape;98;g3bd6193786f_2_4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d6193786f_2_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3bd6193786f_2_5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https://www.mongodb.com/docs/manual/reference/operator/query/regex/</a:t>
            </a:r>
            <a:br>
              <a:rPr lang="en"/>
            </a:br>
            <a:r>
              <a:rPr lang="en"/>
              <a:t>[/Sources]</a:t>
            </a:r>
            <a:endParaRPr/>
          </a:p>
        </p:txBody>
      </p:sp>
      <p:sp>
        <p:nvSpPr>
          <p:cNvPr id="112" name="Google Shape;112;g3bd6193786f_2_5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d6193786f_2_6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3bd6193786f_2_6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https://www.mongodb.com/docs/manual/reference/operator/query/regex/</a:t>
            </a:r>
            <a:br>
              <a:rPr lang="en"/>
            </a:br>
            <a:r>
              <a:rPr lang="en"/>
              <a:t>[/Sources]</a:t>
            </a:r>
            <a:endParaRPr/>
          </a:p>
        </p:txBody>
      </p:sp>
      <p:sp>
        <p:nvSpPr>
          <p:cNvPr id="124" name="Google Shape;124;g3bd6193786f_2_6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bd6193786f_2_7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3bd6193786f_2_7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https://www.mongodb.com/docs/manual/indexes/</a:t>
            </a:r>
            <a:br>
              <a:rPr lang="en"/>
            </a:br>
            <a:r>
              <a:rPr lang="en"/>
              <a:t>[/Sources]</a:t>
            </a:r>
            <a:endParaRPr/>
          </a:p>
        </p:txBody>
      </p:sp>
      <p:sp>
        <p:nvSpPr>
          <p:cNvPr id="138" name="Google Shape;138;g3bd6193786f_2_7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bd6193786f_2_9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bd6193786f_2_9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https://www.mongodb.com/docs/manual/indexes/</a:t>
            </a:r>
            <a:br>
              <a:rPr lang="en"/>
            </a:br>
            <a:r>
              <a:rPr lang="en"/>
              <a:t>[/Sources]</a:t>
            </a:r>
            <a:endParaRPr/>
          </a:p>
        </p:txBody>
      </p:sp>
      <p:sp>
        <p:nvSpPr>
          <p:cNvPr id="150" name="Google Shape;150;g3bd6193786f_2_9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d6193786f_2_1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3bd6193786f_2_10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https://www.mongodb.com/docs/manual/data-modeling/</a:t>
            </a:r>
            <a:br>
              <a:rPr lang="en"/>
            </a:br>
            <a:r>
              <a:rPr lang="en"/>
              <a:t>[/Sources]</a:t>
            </a:r>
            <a:endParaRPr/>
          </a:p>
        </p:txBody>
      </p:sp>
      <p:sp>
        <p:nvSpPr>
          <p:cNvPr id="164" name="Google Shape;164;g3bd6193786f_2_10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d6193786f_2_1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bd6193786f_2_1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https://www.mongodb.com/docs/manual/data-modeling/</a:t>
            </a:r>
            <a:br>
              <a:rPr lang="en"/>
            </a:br>
            <a:r>
              <a:rPr lang="en"/>
              <a:t>[/Sources]</a:t>
            </a:r>
            <a:endParaRPr/>
          </a:p>
        </p:txBody>
      </p:sp>
      <p:sp>
        <p:nvSpPr>
          <p:cNvPr id="176" name="Google Shape;176;g3bd6193786f_2_1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d6193786f_2_1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bd6193786f_2_12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https://git-scm.com/book/en/v2/Git-Basics-Recording-Changes-to-the-Repository</a:t>
            </a:r>
            <a:br>
              <a:rPr lang="en"/>
            </a:br>
            <a:r>
              <a:rPr lang="en"/>
              <a:t>[/Sources]</a:t>
            </a:r>
            <a:endParaRPr/>
          </a:p>
        </p:txBody>
      </p:sp>
      <p:sp>
        <p:nvSpPr>
          <p:cNvPr id="190" name="Google Shape;190;g3bd6193786f_2_12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bd6193786f_2_1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bd6193786f_2_13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https://git-scm.com/book/en/v2/Git-Basics-Recording-Changes-to-the-Repository</a:t>
            </a:r>
            <a:br>
              <a:rPr lang="en"/>
            </a:br>
            <a:r>
              <a:rPr lang="en"/>
              <a:t>[/Sources]</a:t>
            </a:r>
            <a:endParaRPr/>
          </a:p>
        </p:txBody>
      </p:sp>
      <p:sp>
        <p:nvSpPr>
          <p:cNvPr id="202" name="Google Shape;202;g3bd6193786f_2_13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bd6193786f_2_15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bd6193786f_2_15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https://docs.spring.io/spring-security/reference/servlet/authentication/index.html</a:t>
            </a:r>
            <a:br>
              <a:rPr lang="en"/>
            </a:br>
            <a:r>
              <a:rPr lang="en"/>
              <a:t>[/Sources]</a:t>
            </a:r>
            <a:endParaRPr/>
          </a:p>
        </p:txBody>
      </p:sp>
      <p:sp>
        <p:nvSpPr>
          <p:cNvPr id="216" name="Google Shape;216;g3bd6193786f_2_15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bd6193786f_2_1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3bd6193786f_2_16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https://docs.spring.io/spring-security/reference/servlet/authentication/index.html</a:t>
            </a:r>
            <a:br>
              <a:rPr lang="en"/>
            </a:br>
            <a:r>
              <a:rPr lang="en"/>
              <a:t>[/Sources]</a:t>
            </a:r>
            <a:endParaRPr/>
          </a:p>
        </p:txBody>
      </p:sp>
      <p:sp>
        <p:nvSpPr>
          <p:cNvPr id="228" name="Google Shape;228;g3bd6193786f_2_16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bd6193786f_2_1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bd6193786f_2_17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https://owasp.org/www-project-api-security/</a:t>
            </a:r>
            <a:br>
              <a:rPr lang="en"/>
            </a:br>
            <a:r>
              <a:rPr lang="en"/>
              <a:t>https://datatracker.ietf.org/doc/html/rfc9110</a:t>
            </a:r>
            <a:br>
              <a:rPr lang="en"/>
            </a:br>
            <a:r>
              <a:rPr lang="en"/>
              <a:t>[/Sources]</a:t>
            </a:r>
            <a:endParaRPr/>
          </a:p>
        </p:txBody>
      </p:sp>
      <p:sp>
        <p:nvSpPr>
          <p:cNvPr id="242" name="Google Shape;242;g3bd6193786f_2_17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bd6193786f_2_18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3bd6193786f_2_18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https://owasp.org/www-project-api-security/</a:t>
            </a:r>
            <a:br>
              <a:rPr lang="en"/>
            </a:br>
            <a:r>
              <a:rPr lang="en"/>
              <a:t>[/Sources]</a:t>
            </a:r>
            <a:endParaRPr/>
          </a:p>
        </p:txBody>
      </p:sp>
      <p:sp>
        <p:nvSpPr>
          <p:cNvPr id="248" name="Google Shape;248;g3bd6193786f_2_18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d6193786f_2_1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bd6193786f_2_19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https://docs.spring.io/spring-security/reference/servlet/authentication/index.html</a:t>
            </a:r>
            <a:br>
              <a:rPr lang="en"/>
            </a:br>
            <a:r>
              <a:rPr lang="en"/>
              <a:t>[/Sources]</a:t>
            </a:r>
            <a:endParaRPr/>
          </a:p>
        </p:txBody>
      </p:sp>
      <p:sp>
        <p:nvSpPr>
          <p:cNvPr id="257" name="Google Shape;257;g3bd6193786f_2_19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d6193786f_2_2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bd6193786f_2_20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https://docs.spring.io/spring-security/reference/servlet/authorization/index.html</a:t>
            </a:r>
            <a:br>
              <a:rPr lang="en"/>
            </a:br>
            <a:r>
              <a:rPr lang="en"/>
              <a:t>[/Sources]</a:t>
            </a:r>
            <a:endParaRPr/>
          </a:p>
        </p:txBody>
      </p:sp>
      <p:sp>
        <p:nvSpPr>
          <p:cNvPr id="268" name="Google Shape;268;g3bd6193786f_2_20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d6193786f_2_2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bd6193786f_2_21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https://docs.spring.io/spring-security/reference/servlet/authorization/architecture.html</a:t>
            </a:r>
            <a:br>
              <a:rPr lang="en"/>
            </a:br>
            <a:r>
              <a:rPr lang="en"/>
              <a:t>[/Sources]</a:t>
            </a:r>
            <a:endParaRPr/>
          </a:p>
        </p:txBody>
      </p:sp>
      <p:sp>
        <p:nvSpPr>
          <p:cNvPr id="279" name="Google Shape;279;g3bd6193786f_2_21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d6193786f_2_23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bd6193786f_2_23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https://docs.spring.io/spring-security/reference/servlet/authorization/index.html</a:t>
            </a:r>
            <a:br>
              <a:rPr lang="en"/>
            </a:br>
            <a:r>
              <a:rPr lang="en"/>
              <a:t>[/Sources]</a:t>
            </a:r>
            <a:endParaRPr/>
          </a:p>
        </p:txBody>
      </p:sp>
      <p:sp>
        <p:nvSpPr>
          <p:cNvPr id="294" name="Google Shape;294;g3bd6193786f_2_23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bd6193786f_2_2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g3bd6193786f_2_24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https://docs.spring.io/spring-security/reference/servlet/authentication/index.html</a:t>
            </a:r>
            <a:br>
              <a:rPr lang="en"/>
            </a:br>
            <a:r>
              <a:rPr lang="en"/>
              <a:t>[/Sources]</a:t>
            </a:r>
            <a:endParaRPr/>
          </a:p>
        </p:txBody>
      </p:sp>
      <p:sp>
        <p:nvSpPr>
          <p:cNvPr id="305" name="Google Shape;305;g3bd6193786f_2_24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bd6193786f_2_25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bd6193786f_2_25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https://docs.spring.io/spring-framework/reference/web/webmvc.html</a:t>
            </a:r>
            <a:br>
              <a:rPr lang="en"/>
            </a:br>
            <a:r>
              <a:rPr lang="en"/>
              <a:t>https://docs.spring.io/spring-security/reference/servlet/architecture.html</a:t>
            </a:r>
            <a:br>
              <a:rPr lang="en"/>
            </a:br>
            <a:r>
              <a:rPr lang="en"/>
              <a:t>[/Sources]</a:t>
            </a:r>
            <a:endParaRPr/>
          </a:p>
        </p:txBody>
      </p:sp>
      <p:sp>
        <p:nvSpPr>
          <p:cNvPr id="315" name="Google Shape;315;g3bd6193786f_2_25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bd6193786f_2_2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3bd6193786f_2_25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https://docs.spring.io/spring-framework/reference/web/webmvc.html</a:t>
            </a:r>
            <a:br>
              <a:rPr lang="en"/>
            </a:br>
            <a:r>
              <a:rPr lang="en"/>
              <a:t>[/Sources]</a:t>
            </a:r>
            <a:endParaRPr/>
          </a:p>
        </p:txBody>
      </p:sp>
      <p:sp>
        <p:nvSpPr>
          <p:cNvPr id="321" name="Google Shape;321;g3bd6193786f_2_25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bd6193786f_2_2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g3bd6193786f_2_27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https://docs.spring.io/spring-security/reference/servlet/architecture.html</a:t>
            </a:r>
            <a:br>
              <a:rPr lang="en"/>
            </a:br>
            <a:r>
              <a:rPr lang="en"/>
              <a:t>[/Sources]</a:t>
            </a:r>
            <a:endParaRPr/>
          </a:p>
        </p:txBody>
      </p:sp>
      <p:sp>
        <p:nvSpPr>
          <p:cNvPr id="333" name="Google Shape;333;g3bd6193786f_2_27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bd6193786f_2_28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3bd6193786f_2_28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https://datatracker.ietf.org/doc/html/rfc9110</a:t>
            </a:r>
            <a:br>
              <a:rPr lang="en"/>
            </a:br>
            <a:r>
              <a:rPr lang="en"/>
              <a:t>[/Sources]</a:t>
            </a:r>
            <a:endParaRPr/>
          </a:p>
        </p:txBody>
      </p:sp>
      <p:sp>
        <p:nvSpPr>
          <p:cNvPr id="344" name="Google Shape;344;g3bd6193786f_2_28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bd6193786f_2_2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bd6193786f_2_29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https://datatracker.ietf.org/doc/html/rfc9110</a:t>
            </a:r>
            <a:br>
              <a:rPr lang="en"/>
            </a:br>
            <a:r>
              <a:rPr lang="en"/>
              <a:t>[/Sources]</a:t>
            </a:r>
            <a:endParaRPr/>
          </a:p>
        </p:txBody>
      </p:sp>
      <p:sp>
        <p:nvSpPr>
          <p:cNvPr id="357" name="Google Shape;357;g3bd6193786f_2_29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bd6193786f_2_3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g3bd6193786f_2_30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https://docs.spring.io/spring-security/reference/servlet/architecture.html</a:t>
            </a:r>
            <a:br>
              <a:rPr lang="en"/>
            </a:br>
            <a:r>
              <a:rPr lang="en"/>
              <a:t>[/Sources]</a:t>
            </a:r>
            <a:endParaRPr/>
          </a:p>
        </p:txBody>
      </p:sp>
      <p:sp>
        <p:nvSpPr>
          <p:cNvPr id="370" name="Google Shape;370;g3bd6193786f_2_30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bd6193786f_2_30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3bd6193786f_2_30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https://docs.spring.io/spring-security/reference/servlet/architecture.html</a:t>
            </a:r>
            <a:br>
              <a:rPr lang="en"/>
            </a:br>
            <a:r>
              <a:rPr lang="en"/>
              <a:t>[/Sources]</a:t>
            </a:r>
            <a:endParaRPr/>
          </a:p>
        </p:txBody>
      </p:sp>
      <p:sp>
        <p:nvSpPr>
          <p:cNvPr id="376" name="Google Shape;376;g3bd6193786f_2_30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bd6193786f_2_3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g3bd6193786f_2_31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https://docs.spring.io/spring-security/reference/servlet/architecture.html</a:t>
            </a:r>
            <a:br>
              <a:rPr lang="en"/>
            </a:br>
            <a:r>
              <a:rPr lang="en"/>
              <a:t>[/Sources]</a:t>
            </a:r>
            <a:endParaRPr/>
          </a:p>
        </p:txBody>
      </p:sp>
      <p:sp>
        <p:nvSpPr>
          <p:cNvPr id="387" name="Google Shape;387;g3bd6193786f_2_31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bd6193786f_2_32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3bd6193786f_2_32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https://docs.spring.io/spring-security/reference/servlet/authorization/authorize-http-requests.html</a:t>
            </a:r>
            <a:br>
              <a:rPr lang="en"/>
            </a:br>
            <a:r>
              <a:rPr lang="en"/>
              <a:t>[/Sources]</a:t>
            </a:r>
            <a:endParaRPr/>
          </a:p>
        </p:txBody>
      </p:sp>
      <p:sp>
        <p:nvSpPr>
          <p:cNvPr id="398" name="Google Shape;398;g3bd6193786f_2_32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bd6193786f_2_3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3bd6193786f_2_33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https://docs.spring.io/spring-security/reference/servlet/authentication/architecture.html</a:t>
            </a:r>
            <a:br>
              <a:rPr lang="en"/>
            </a:br>
            <a:r>
              <a:rPr lang="en"/>
              <a:t>[/Sources]</a:t>
            </a:r>
            <a:endParaRPr/>
          </a:p>
        </p:txBody>
      </p:sp>
      <p:sp>
        <p:nvSpPr>
          <p:cNvPr id="409" name="Google Shape;409;g3bd6193786f_2_33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bd6193786f_2_35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g3bd6193786f_2_35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https://docs.spring.io/spring-security/reference/servlet/authentication/architecture.html</a:t>
            </a:r>
            <a:br>
              <a:rPr lang="en"/>
            </a:br>
            <a:r>
              <a:rPr lang="en"/>
              <a:t>[/Sources]</a:t>
            </a:r>
            <a:endParaRPr/>
          </a:p>
        </p:txBody>
      </p:sp>
      <p:sp>
        <p:nvSpPr>
          <p:cNvPr id="422" name="Google Shape;422;g3bd6193786f_2_35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bd6193786f_2_3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bd6193786f_2_36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https://datatracker.ietf.org/doc/html/rfc7617</a:t>
            </a:r>
            <a:br>
              <a:rPr lang="en"/>
            </a:br>
            <a:r>
              <a:rPr lang="en"/>
              <a:t>https://developer.mozilla.org/en-US/docs/Web/HTTP/Authentication</a:t>
            </a:r>
            <a:br>
              <a:rPr lang="en"/>
            </a:br>
            <a:r>
              <a:rPr lang="en"/>
              <a:t>[/Sources]</a:t>
            </a:r>
            <a:endParaRPr/>
          </a:p>
        </p:txBody>
      </p:sp>
      <p:sp>
        <p:nvSpPr>
          <p:cNvPr id="435" name="Google Shape;435;g3bd6193786f_2_36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bd6193786f_2_3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g3bd6193786f_2_36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https://datatracker.ietf.org/doc/html/rfc7617</a:t>
            </a:r>
            <a:br>
              <a:rPr lang="en"/>
            </a:br>
            <a:r>
              <a:rPr lang="en"/>
              <a:t>https://developer.mozilla.org/en-US/docs/Web/HTTP/Authentication</a:t>
            </a:r>
            <a:br>
              <a:rPr lang="en"/>
            </a:br>
            <a:r>
              <a:rPr lang="en"/>
              <a:t>[/Sources]</a:t>
            </a:r>
            <a:endParaRPr/>
          </a:p>
        </p:txBody>
      </p:sp>
      <p:sp>
        <p:nvSpPr>
          <p:cNvPr id="441" name="Google Shape;441;g3bd6193786f_2_36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bd6193786f_2_38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g3bd6193786f_2_38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https://datatracker.ietf.org/doc/html/rfc7617</a:t>
            </a:r>
            <a:br>
              <a:rPr lang="en"/>
            </a:br>
            <a:r>
              <a:rPr lang="en"/>
              <a:t>https://developer.mozilla.org/en-US/docs/Web/HTTP/Authentication</a:t>
            </a:r>
            <a:br>
              <a:rPr lang="en"/>
            </a:br>
            <a:r>
              <a:rPr lang="en"/>
              <a:t>[/Sources]</a:t>
            </a:r>
            <a:endParaRPr/>
          </a:p>
        </p:txBody>
      </p:sp>
      <p:sp>
        <p:nvSpPr>
          <p:cNvPr id="455" name="Google Shape;455;g3bd6193786f_2_38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bd6193786f_2_3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3bd6193786f_2_39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https://datatracker.ietf.org/doc/html/rfc7617</a:t>
            </a:r>
            <a:br>
              <a:rPr lang="en"/>
            </a:br>
            <a:r>
              <a:rPr lang="en"/>
              <a:t>[/Sources]</a:t>
            </a:r>
            <a:endParaRPr/>
          </a:p>
        </p:txBody>
      </p:sp>
      <p:sp>
        <p:nvSpPr>
          <p:cNvPr id="468" name="Google Shape;468;g3bd6193786f_2_39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bd6193786f_2_4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g3bd6193786f_2_40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https://docs.spring.io/spring-security/reference/servlet/authentication/passwords/basic.html</a:t>
            </a:r>
            <a:br>
              <a:rPr lang="en"/>
            </a:br>
            <a:r>
              <a:rPr lang="en"/>
              <a:t>[/Sources]</a:t>
            </a:r>
            <a:endParaRPr/>
          </a:p>
        </p:txBody>
      </p:sp>
      <p:sp>
        <p:nvSpPr>
          <p:cNvPr id="479" name="Google Shape;479;g3bd6193786f_2_40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bd6193786f_2_4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g3bd6193786f_2_4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https://docs.spring.io/spring-security/reference/servlet/authentication/passwords/index.html</a:t>
            </a:r>
            <a:br>
              <a:rPr lang="en"/>
            </a:br>
            <a:r>
              <a:rPr lang="en"/>
              <a:t>https://www.mongodb.com/docs/manual/indexes/</a:t>
            </a:r>
            <a:br>
              <a:rPr lang="en"/>
            </a:br>
            <a:r>
              <a:rPr lang="en"/>
              <a:t>[/Sources]</a:t>
            </a:r>
            <a:endParaRPr/>
          </a:p>
        </p:txBody>
      </p:sp>
      <p:sp>
        <p:nvSpPr>
          <p:cNvPr id="490" name="Google Shape;490;g3bd6193786f_2_4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bd6193786f_2_4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g3bd6193786f_2_41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https://docs.spring.io/spring-security/reference/servlet/authentication/index.html</a:t>
            </a:r>
            <a:br>
              <a:rPr lang="en"/>
            </a:br>
            <a:r>
              <a:rPr lang="en"/>
              <a:t>[/Sources]</a:t>
            </a:r>
            <a:endParaRPr/>
          </a:p>
        </p:txBody>
      </p:sp>
      <p:sp>
        <p:nvSpPr>
          <p:cNvPr id="496" name="Google Shape;496;g3bd6193786f_2_41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bd6193786f_2_42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g3bd6193786f_2_42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https://www.mongodb.com/docs/manual/core/document/</a:t>
            </a:r>
            <a:br>
              <a:rPr lang="en"/>
            </a:br>
            <a:r>
              <a:rPr lang="en"/>
              <a:t>[/Sources]</a:t>
            </a:r>
            <a:endParaRPr/>
          </a:p>
        </p:txBody>
      </p:sp>
      <p:sp>
        <p:nvSpPr>
          <p:cNvPr id="507" name="Google Shape;507;g3bd6193786f_2_42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bd6193786f_2_4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g3bd6193786f_2_43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https://www.mongodb.com/docs/manual/core/index-unique/</a:t>
            </a:r>
            <a:br>
              <a:rPr lang="en"/>
            </a:br>
            <a:r>
              <a:rPr lang="en"/>
              <a:t>[/Sources]</a:t>
            </a:r>
            <a:endParaRPr/>
          </a:p>
        </p:txBody>
      </p:sp>
      <p:sp>
        <p:nvSpPr>
          <p:cNvPr id="518" name="Google Shape;518;g3bd6193786f_2_43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bd6193786f_2_4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g3bd6193786f_2_44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https://www.mongodb.com/docs/manual/data-modeling/</a:t>
            </a:r>
            <a:br>
              <a:rPr lang="en"/>
            </a:br>
            <a:r>
              <a:rPr lang="en"/>
              <a:t>[/Sources]</a:t>
            </a:r>
            <a:endParaRPr/>
          </a:p>
        </p:txBody>
      </p:sp>
      <p:sp>
        <p:nvSpPr>
          <p:cNvPr id="529" name="Google Shape;529;g3bd6193786f_2_44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d6193786f_2_46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g3bd6193786f_2_46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https://docs.spring.io/spring-security/reference/servlet/authentication/passwords/index.html</a:t>
            </a:r>
            <a:br>
              <a:rPr lang="en"/>
            </a:br>
            <a:r>
              <a:rPr lang="en"/>
              <a:t>[/Sources]</a:t>
            </a:r>
            <a:endParaRPr/>
          </a:p>
        </p:txBody>
      </p:sp>
      <p:sp>
        <p:nvSpPr>
          <p:cNvPr id="542" name="Google Shape;542;g3bd6193786f_2_46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bd6193786f_2_4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g3bd6193786f_2_47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https://owasp.org/www-project-cheat-sheets/cheatsheets/Password_Storage_Cheat_Sheet.html</a:t>
            </a:r>
            <a:br>
              <a:rPr lang="en"/>
            </a:br>
            <a:r>
              <a:rPr lang="en"/>
              <a:t>https://datatracker.ietf.org/doc/html/rfc7617</a:t>
            </a:r>
            <a:br>
              <a:rPr lang="en"/>
            </a:br>
            <a:r>
              <a:rPr lang="en"/>
              <a:t>[/Sources]</a:t>
            </a:r>
            <a:endParaRPr/>
          </a:p>
        </p:txBody>
      </p:sp>
      <p:sp>
        <p:nvSpPr>
          <p:cNvPr id="553" name="Google Shape;553;g3bd6193786f_2_47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bd6193786f_2_4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g3bd6193786f_2_47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https://owasp.org/www-project-cheat-sheets/cheatsheets/Password_Storage_Cheat_Sheet.html</a:t>
            </a:r>
            <a:br>
              <a:rPr lang="en"/>
            </a:br>
            <a:r>
              <a:rPr lang="en"/>
              <a:t>[/Sources]</a:t>
            </a:r>
            <a:endParaRPr/>
          </a:p>
        </p:txBody>
      </p:sp>
      <p:sp>
        <p:nvSpPr>
          <p:cNvPr id="559" name="Google Shape;559;g3bd6193786f_2_47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bd6193786f_2_48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9" name="Google Shape;569;g3bd6193786f_2_48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https://owasp.org/www-project-cheat-sheets/cheatsheets/Password_Storage_Cheat_Sheet.html</a:t>
            </a:r>
            <a:br>
              <a:rPr lang="en"/>
            </a:br>
            <a:r>
              <a:rPr lang="en"/>
              <a:t>[/Sources]</a:t>
            </a:r>
            <a:endParaRPr/>
          </a:p>
        </p:txBody>
      </p:sp>
      <p:sp>
        <p:nvSpPr>
          <p:cNvPr id="570" name="Google Shape;570;g3bd6193786f_2_48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bd6193786f_2_5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g3bd6193786f_2_50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https://datatracker.ietf.org/doc/html/rfc7617</a:t>
            </a:r>
            <a:br>
              <a:rPr lang="en"/>
            </a:br>
            <a:r>
              <a:rPr lang="en"/>
              <a:t>[/Sources]</a:t>
            </a:r>
            <a:endParaRPr/>
          </a:p>
        </p:txBody>
      </p:sp>
      <p:sp>
        <p:nvSpPr>
          <p:cNvPr id="583" name="Google Shape;583;g3bd6193786f_2_50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bd6193786f_2_5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g3bd6193786f_2_5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https://docs.spring.io/spring-security/reference/servlet/authentication/index.html</a:t>
            </a:r>
            <a:br>
              <a:rPr lang="en"/>
            </a:br>
            <a:r>
              <a:rPr lang="en"/>
              <a:t>[/Sources]</a:t>
            </a:r>
            <a:endParaRPr/>
          </a:p>
        </p:txBody>
      </p:sp>
      <p:sp>
        <p:nvSpPr>
          <p:cNvPr id="594" name="Google Shape;594;g3bd6193786f_2_5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bd6193786f_2_52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g3bd6193786f_2_52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https://docs.spring.io/spring-security/reference/servlet/authorization/index.html</a:t>
            </a:r>
            <a:br>
              <a:rPr lang="en"/>
            </a:br>
            <a:r>
              <a:rPr lang="en"/>
              <a:t>[/Sources]</a:t>
            </a:r>
            <a:endParaRPr/>
          </a:p>
        </p:txBody>
      </p:sp>
      <p:sp>
        <p:nvSpPr>
          <p:cNvPr id="608" name="Google Shape;608;g3bd6193786f_2_52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bd6193786f_2_5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g3bd6193786f_2_53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https://docs.spring.io/spring-security/reference/servlet/authorization/index.html</a:t>
            </a:r>
            <a:br>
              <a:rPr lang="en"/>
            </a:br>
            <a:r>
              <a:rPr lang="en"/>
              <a:t>[/Sources]</a:t>
            </a:r>
            <a:endParaRPr/>
          </a:p>
        </p:txBody>
      </p:sp>
      <p:sp>
        <p:nvSpPr>
          <p:cNvPr id="614" name="Google Shape;614;g3bd6193786f_2_53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bd6193786f_2_5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bd6193786f_2_53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https://docs.spring.io/spring-security/reference/servlet/authorization/architecture.html</a:t>
            </a:r>
            <a:br>
              <a:rPr lang="en"/>
            </a:br>
            <a:r>
              <a:rPr lang="en"/>
              <a:t>[/Sources]</a:t>
            </a:r>
            <a:endParaRPr/>
          </a:p>
        </p:txBody>
      </p:sp>
      <p:sp>
        <p:nvSpPr>
          <p:cNvPr id="623" name="Google Shape;623;g3bd6193786f_2_53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bd6193786f_2_5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g3bd6193786f_2_54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https://docs.spring.io/spring-security/reference/servlet/authorization/index.html</a:t>
            </a:r>
            <a:br>
              <a:rPr lang="en"/>
            </a:br>
            <a:r>
              <a:rPr lang="en"/>
              <a:t>[/Sources]</a:t>
            </a:r>
            <a:endParaRPr/>
          </a:p>
        </p:txBody>
      </p:sp>
      <p:sp>
        <p:nvSpPr>
          <p:cNvPr id="634" name="Google Shape;634;g3bd6193786f_2_54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bd6193786f_2_5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bd6193786f_2_55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https://docs.spring.io/spring-security/reference/servlet/authorization/index.html</a:t>
            </a:r>
            <a:br>
              <a:rPr lang="en"/>
            </a:br>
            <a:r>
              <a:rPr lang="en"/>
              <a:t>[/Sources]</a:t>
            </a:r>
            <a:endParaRPr/>
          </a:p>
        </p:txBody>
      </p:sp>
      <p:sp>
        <p:nvSpPr>
          <p:cNvPr id="645" name="Google Shape;645;g3bd6193786f_2_55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bd6193786f_2_56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g3bd6193786f_2_56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https://docs.spring.io/spring-security/reference/servlet/authentication/passwords/basic.html</a:t>
            </a:r>
            <a:br>
              <a:rPr lang="en"/>
            </a:br>
            <a:r>
              <a:rPr lang="en"/>
              <a:t>[/Sources]</a:t>
            </a:r>
            <a:endParaRPr/>
          </a:p>
        </p:txBody>
      </p:sp>
      <p:sp>
        <p:nvSpPr>
          <p:cNvPr id="656" name="Google Shape;656;g3bd6193786f_2_56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d6193786f_2_58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g3bd6193786f_2_58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a:t>
            </a:r>
            <a:br>
              <a:rPr lang="en"/>
            </a:br>
            <a:r>
              <a:rPr lang="en"/>
              <a:t>[/Sources]</a:t>
            </a:r>
            <a:endParaRPr/>
          </a:p>
        </p:txBody>
      </p:sp>
      <p:sp>
        <p:nvSpPr>
          <p:cNvPr id="662" name="Google Shape;662;g3bd6193786f_2_58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bd6193786f_2_5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g3bd6193786f_2_59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https://developer.mozilla.org/en-US/docs/Web/HTTP/Status</a:t>
            </a:r>
            <a:br>
              <a:rPr lang="en"/>
            </a:br>
            <a:r>
              <a:rPr lang="en"/>
              <a:t>[/Sources]</a:t>
            </a:r>
            <a:endParaRPr/>
          </a:p>
        </p:txBody>
      </p:sp>
      <p:sp>
        <p:nvSpPr>
          <p:cNvPr id="676" name="Google Shape;676;g3bd6193786f_2_59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bd6193786f_2_60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3bd6193786f_2_60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https://docs.spring.io/spring-security/reference/servlet/authorization/index.html</a:t>
            </a:r>
            <a:br>
              <a:rPr lang="en"/>
            </a:br>
            <a:r>
              <a:rPr lang="en"/>
              <a:t>[/Sources]</a:t>
            </a:r>
            <a:endParaRPr/>
          </a:p>
        </p:txBody>
      </p:sp>
      <p:sp>
        <p:nvSpPr>
          <p:cNvPr id="691" name="Google Shape;691;g3bd6193786f_2_60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bd6193786f_0_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g3bd6193786f_0_1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[Sources]</a:t>
            </a:r>
            <a:br>
              <a:rPr lang="en"/>
            </a:br>
            <a:r>
              <a:rPr lang="en"/>
              <a:t>https://docs.spring.io/spring-security/reference/servlet/authentication/passwords/basic.html</a:t>
            </a:r>
            <a:br>
              <a:rPr lang="en"/>
            </a:br>
            <a:r>
              <a:rPr lang="en"/>
              <a:t>[/Sources]</a:t>
            </a:r>
            <a:endParaRPr/>
          </a:p>
        </p:txBody>
      </p:sp>
      <p:sp>
        <p:nvSpPr>
          <p:cNvPr id="701" name="Google Shape;701;g3bd6193786f_0_1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hyperlink" Target="https://spring.io/projects/spring-security"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hyperlink" Target="https://docs.spring.io/spring-security/site/docs/current/api/org/springframework/security/web/SecurityFilterChain.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56" name="Shape 56"/>
        <p:cNvGrpSpPr/>
        <p:nvPr/>
      </p:nvGrpSpPr>
      <p:grpSpPr>
        <a:xfrm>
          <a:off x="0" y="0"/>
          <a:ext cx="0" cy="0"/>
          <a:chOff x="0" y="0"/>
          <a:chExt cx="0" cy="0"/>
        </a:xfrm>
      </p:grpSpPr>
      <p:sp>
        <p:nvSpPr>
          <p:cNvPr id="57" name="Google Shape;57;p15"/>
          <p:cNvSpPr/>
          <p:nvPr/>
        </p:nvSpPr>
        <p:spPr>
          <a:xfrm>
            <a:off x="0" y="1572768"/>
            <a:ext cx="91440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00"/>
              <a:buFont typeface="Calibri"/>
              <a:buNone/>
            </a:pPr>
            <a:r>
              <a:rPr b="0" i="0" lang="en" sz="1700" u="none" cap="none" strike="noStrike">
                <a:solidFill>
                  <a:srgbClr val="FFFFFF"/>
                </a:solidFill>
                <a:latin typeface="Calibri"/>
                <a:ea typeface="Calibri"/>
                <a:cs typeface="Calibri"/>
                <a:sym typeface="Calibri"/>
              </a:rPr>
              <a:t>Lecture 44</a:t>
            </a:r>
            <a:endParaRPr b="0" i="0" sz="1700" u="none" cap="none" strike="noStrike">
              <a:solidFill>
                <a:schemeClr val="dk1"/>
              </a:solidFill>
              <a:latin typeface="Calibri"/>
              <a:ea typeface="Calibri"/>
              <a:cs typeface="Calibri"/>
              <a:sym typeface="Calibri"/>
            </a:endParaRPr>
          </a:p>
        </p:txBody>
      </p:sp>
      <p:sp>
        <p:nvSpPr>
          <p:cNvPr id="58" name="Google Shape;58;p15"/>
          <p:cNvSpPr/>
          <p:nvPr/>
        </p:nvSpPr>
        <p:spPr>
          <a:xfrm>
            <a:off x="0" y="1920240"/>
            <a:ext cx="91440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700"/>
              <a:buFont typeface="Calibri"/>
              <a:buNone/>
            </a:pPr>
            <a:r>
              <a:rPr b="1" i="0" lang="en" sz="2700" u="none" cap="none" strike="noStrike">
                <a:solidFill>
                  <a:srgbClr val="FFFFFF"/>
                </a:solidFill>
                <a:latin typeface="Calibri"/>
                <a:ea typeface="Calibri"/>
                <a:cs typeface="Calibri"/>
                <a:sym typeface="Calibri"/>
              </a:rPr>
              <a:t>Authentication and Security</a:t>
            </a:r>
            <a:endParaRPr b="0" i="0" sz="2700" u="none" cap="none" strike="noStrike">
              <a:solidFill>
                <a:schemeClr val="dk1"/>
              </a:solidFill>
              <a:latin typeface="Calibri"/>
              <a:ea typeface="Calibri"/>
              <a:cs typeface="Calibri"/>
              <a:sym typeface="Calibri"/>
            </a:endParaRPr>
          </a:p>
        </p:txBody>
      </p:sp>
      <p:sp>
        <p:nvSpPr>
          <p:cNvPr id="59" name="Google Shape;59;p15"/>
          <p:cNvSpPr/>
          <p:nvPr/>
        </p:nvSpPr>
        <p:spPr>
          <a:xfrm>
            <a:off x="0" y="2578608"/>
            <a:ext cx="9144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0" i="0" lang="en" sz="1800" u="none" cap="none" strike="noStrike">
                <a:solidFill>
                  <a:srgbClr val="FFFFFF"/>
                </a:solidFill>
                <a:latin typeface="Calibri"/>
                <a:ea typeface="Calibri"/>
                <a:cs typeface="Calibri"/>
                <a:sym typeface="Calibri"/>
              </a:rPr>
              <a:t>Module 4B</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16"/>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What are we doing today</a:t>
            </a:r>
            <a:endParaRPr b="0" i="0" sz="2000" u="none" cap="none" strike="noStrike">
              <a:solidFill>
                <a:schemeClr val="dk1"/>
              </a:solidFill>
              <a:latin typeface="Calibri"/>
              <a:ea typeface="Calibri"/>
              <a:cs typeface="Calibri"/>
              <a:sym typeface="Calibri"/>
            </a:endParaRPr>
          </a:p>
        </p:txBody>
      </p:sp>
      <p:sp>
        <p:nvSpPr>
          <p:cNvPr id="66" name="Google Shape;66;p16"/>
          <p:cNvSpPr/>
          <p:nvPr/>
        </p:nvSpPr>
        <p:spPr>
          <a:xfrm>
            <a:off x="411480" y="85953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Objective</a:t>
            </a:r>
            <a:endParaRPr b="0" i="0" sz="1300" u="none" cap="none" strike="noStrike">
              <a:solidFill>
                <a:schemeClr val="dk1"/>
              </a:solidFill>
              <a:latin typeface="Calibri"/>
              <a:ea typeface="Calibri"/>
              <a:cs typeface="Calibri"/>
              <a:sym typeface="Calibri"/>
            </a:endParaRPr>
          </a:p>
        </p:txBody>
      </p:sp>
      <p:sp>
        <p:nvSpPr>
          <p:cNvPr id="67" name="Google Shape;67;p16"/>
          <p:cNvSpPr/>
          <p:nvPr/>
        </p:nvSpPr>
        <p:spPr>
          <a:xfrm>
            <a:off x="411480" y="1161288"/>
            <a:ext cx="8321040" cy="86868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Understand authentication and authorization with clear examples.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Learn how Spring Security protects REST APIs using a filter chain.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Introduce Basic authentication and a DB-backed user model.</a:t>
            </a:r>
            <a:endParaRPr b="0" i="0" sz="1100" u="none" cap="none" strike="noStrike">
              <a:solidFill>
                <a:schemeClr val="dk1"/>
              </a:solidFill>
              <a:latin typeface="Calibri"/>
              <a:ea typeface="Calibri"/>
              <a:cs typeface="Calibri"/>
              <a:sym typeface="Calibri"/>
            </a:endParaRPr>
          </a:p>
        </p:txBody>
      </p:sp>
      <p:sp>
        <p:nvSpPr>
          <p:cNvPr id="68" name="Google Shape;68;p16"/>
          <p:cNvSpPr/>
          <p:nvPr/>
        </p:nvSpPr>
        <p:spPr>
          <a:xfrm>
            <a:off x="411480" y="2505485"/>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Agenda</a:t>
            </a:r>
            <a:endParaRPr b="0" i="0" sz="1300" u="none" cap="none" strike="noStrike">
              <a:solidFill>
                <a:schemeClr val="dk1"/>
              </a:solidFill>
              <a:latin typeface="Calibri"/>
              <a:ea typeface="Calibri"/>
              <a:cs typeface="Calibri"/>
              <a:sym typeface="Calibri"/>
            </a:endParaRPr>
          </a:p>
        </p:txBody>
      </p:sp>
      <p:sp>
        <p:nvSpPr>
          <p:cNvPr id="69" name="Google Shape;69;p16"/>
          <p:cNvSpPr/>
          <p:nvPr/>
        </p:nvSpPr>
        <p:spPr>
          <a:xfrm>
            <a:off x="411480" y="2816381"/>
            <a:ext cx="8321100" cy="16458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Warm-up quiz.</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Security foundations.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Request lifecycle and where security fits.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Introduction to Spring Security.</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Basic authentication.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DB-backed users and roles.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Signup and login flow.</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Authorization and protected routes.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Activity.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74" name="Shape 74"/>
        <p:cNvGrpSpPr/>
        <p:nvPr/>
      </p:nvGrpSpPr>
      <p:grpSpPr>
        <a:xfrm>
          <a:off x="0" y="0"/>
          <a:ext cx="0" cy="0"/>
          <a:chOff x="0" y="0"/>
          <a:chExt cx="0" cy="0"/>
        </a:xfrm>
      </p:grpSpPr>
      <p:sp>
        <p:nvSpPr>
          <p:cNvPr id="75" name="Google Shape;75;p17"/>
          <p:cNvSpPr/>
          <p:nvPr/>
        </p:nvSpPr>
        <p:spPr>
          <a:xfrm>
            <a:off x="0" y="0"/>
            <a:ext cx="9144000" cy="514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Warm-up</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18"/>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Warm-up quiz</a:t>
            </a:r>
            <a:endParaRPr b="0" i="0" sz="2000" u="none" cap="none" strike="noStrike">
              <a:solidFill>
                <a:schemeClr val="dk1"/>
              </a:solidFill>
              <a:latin typeface="Calibri"/>
              <a:ea typeface="Calibri"/>
              <a:cs typeface="Calibri"/>
              <a:sym typeface="Calibri"/>
            </a:endParaRPr>
          </a:p>
        </p:txBody>
      </p:sp>
      <p:sp>
        <p:nvSpPr>
          <p:cNvPr id="82" name="Google Shape;82;p18"/>
          <p:cNvSpPr/>
          <p:nvPr/>
        </p:nvSpPr>
        <p:spPr>
          <a:xfrm>
            <a:off x="411475" y="859520"/>
            <a:ext cx="8321100" cy="5508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Answer 6 questions.</a:t>
            </a:r>
            <a:endParaRPr b="0" i="0" sz="1100" u="none" cap="none" strike="noStrike">
              <a:solidFill>
                <a:srgbClr val="1F2937"/>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lang="en" sz="1100">
                <a:solidFill>
                  <a:srgbClr val="1F2937"/>
                </a:solidFill>
                <a:latin typeface="Calibri"/>
                <a:ea typeface="Calibri"/>
                <a:cs typeface="Calibri"/>
                <a:sym typeface="Calibri"/>
              </a:rPr>
              <a:t>Reply format: 1 / 2 / 3 / 4</a:t>
            </a:r>
            <a:endParaRPr sz="1100">
              <a:solidFill>
                <a:srgbClr val="1F2937"/>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19"/>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1</a:t>
            </a:r>
            <a:endParaRPr b="0" i="0" sz="2000" u="none" cap="none" strike="noStrike">
              <a:solidFill>
                <a:schemeClr val="dk1"/>
              </a:solidFill>
              <a:latin typeface="Calibri"/>
              <a:ea typeface="Calibri"/>
              <a:cs typeface="Calibri"/>
              <a:sym typeface="Calibri"/>
            </a:endParaRPr>
          </a:p>
        </p:txBody>
      </p:sp>
      <p:sp>
        <p:nvSpPr>
          <p:cNvPr id="89" name="Google Shape;89;p19"/>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You created an Atlas cluster and copied the Compass connection string.</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When you try to connect from MongoDB Compass, the connection fails from your laptop.</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What is the most common first fix in Atlas?</a:t>
            </a:r>
            <a:endParaRPr b="0" i="0" sz="1300" u="none" cap="none" strike="noStrike">
              <a:solidFill>
                <a:schemeClr val="dk1"/>
              </a:solidFill>
              <a:latin typeface="Calibri"/>
              <a:ea typeface="Calibri"/>
              <a:cs typeface="Calibri"/>
              <a:sym typeface="Calibri"/>
            </a:endParaRPr>
          </a:p>
        </p:txBody>
      </p:sp>
      <p:sp>
        <p:nvSpPr>
          <p:cNvPr id="90" name="Google Shape;90;p19"/>
          <p:cNvSpPr/>
          <p:nvPr/>
        </p:nvSpPr>
        <p:spPr>
          <a:xfrm>
            <a:off x="411480" y="1783080"/>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Add your current public IP address to the Network Access IP access list</a:t>
            </a:r>
            <a:endParaRPr b="0" i="0" sz="1100" u="none" cap="none" strike="noStrike">
              <a:solidFill>
                <a:schemeClr val="dk1"/>
              </a:solidFill>
              <a:latin typeface="Calibri"/>
              <a:ea typeface="Calibri"/>
              <a:cs typeface="Calibri"/>
              <a:sym typeface="Calibri"/>
            </a:endParaRPr>
          </a:p>
        </p:txBody>
      </p:sp>
      <p:sp>
        <p:nvSpPr>
          <p:cNvPr id="91" name="Google Shape;91;p19"/>
          <p:cNvSpPr/>
          <p:nvPr/>
        </p:nvSpPr>
        <p:spPr>
          <a:xfrm>
            <a:off x="411480" y="2201418"/>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Create a new database named studentdb in Atlas</a:t>
            </a:r>
            <a:endParaRPr b="0" i="0" sz="1100" u="none" cap="none" strike="noStrike">
              <a:solidFill>
                <a:schemeClr val="dk1"/>
              </a:solidFill>
              <a:latin typeface="Calibri"/>
              <a:ea typeface="Calibri"/>
              <a:cs typeface="Calibri"/>
              <a:sym typeface="Calibri"/>
            </a:endParaRPr>
          </a:p>
        </p:txBody>
      </p:sp>
      <p:sp>
        <p:nvSpPr>
          <p:cNvPr id="92" name="Google Shape;92;p19"/>
          <p:cNvSpPr/>
          <p:nvPr/>
        </p:nvSpPr>
        <p:spPr>
          <a:xfrm>
            <a:off x="411480" y="261975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Create an index on email before connecting</a:t>
            </a:r>
            <a:endParaRPr b="0" i="0" sz="1100" u="none" cap="none" strike="noStrike">
              <a:solidFill>
                <a:schemeClr val="dk1"/>
              </a:solidFill>
              <a:latin typeface="Calibri"/>
              <a:ea typeface="Calibri"/>
              <a:cs typeface="Calibri"/>
              <a:sym typeface="Calibri"/>
            </a:endParaRPr>
          </a:p>
        </p:txBody>
      </p:sp>
      <p:sp>
        <p:nvSpPr>
          <p:cNvPr id="93" name="Google Shape;93;p19"/>
          <p:cNvSpPr/>
          <p:nvPr/>
        </p:nvSpPr>
        <p:spPr>
          <a:xfrm>
            <a:off x="411480" y="3038094"/>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Import a JSON file into the students collection first</a:t>
            </a:r>
            <a:endParaRPr b="0" i="0" sz="1100" u="none" cap="none" strike="noStrike">
              <a:solidFill>
                <a:schemeClr val="dk1"/>
              </a:solidFill>
              <a:latin typeface="Calibri"/>
              <a:ea typeface="Calibri"/>
              <a:cs typeface="Calibri"/>
              <a:sym typeface="Calibri"/>
            </a:endParaRPr>
          </a:p>
        </p:txBody>
      </p:sp>
      <p:sp>
        <p:nvSpPr>
          <p:cNvPr id="94" name="Google Shape;94;p19"/>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20"/>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1</a:t>
            </a:r>
            <a:endParaRPr b="0" i="0" sz="2000" u="none" cap="none" strike="noStrike">
              <a:solidFill>
                <a:schemeClr val="dk1"/>
              </a:solidFill>
              <a:latin typeface="Calibri"/>
              <a:ea typeface="Calibri"/>
              <a:cs typeface="Calibri"/>
              <a:sym typeface="Calibri"/>
            </a:endParaRPr>
          </a:p>
        </p:txBody>
      </p:sp>
      <p:sp>
        <p:nvSpPr>
          <p:cNvPr id="101" name="Google Shape;101;p20"/>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You created an Atlas cluster and copied the Compass connection string.</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When you try to connect from MongoDB Compass, the connection fails from your laptop.</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What is the most common first fix in Atlas?</a:t>
            </a:r>
            <a:endParaRPr b="0" i="0" sz="1300" u="none" cap="none" strike="noStrike">
              <a:solidFill>
                <a:schemeClr val="dk1"/>
              </a:solidFill>
              <a:latin typeface="Calibri"/>
              <a:ea typeface="Calibri"/>
              <a:cs typeface="Calibri"/>
              <a:sym typeface="Calibri"/>
            </a:endParaRPr>
          </a:p>
        </p:txBody>
      </p:sp>
      <p:sp>
        <p:nvSpPr>
          <p:cNvPr id="102" name="Google Shape;102;p20"/>
          <p:cNvSpPr/>
          <p:nvPr/>
        </p:nvSpPr>
        <p:spPr>
          <a:xfrm>
            <a:off x="411480" y="1783080"/>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Add your current public IP address to the Network Access IP access list</a:t>
            </a:r>
            <a:endParaRPr b="0" i="0" sz="1100" u="none" cap="none" strike="noStrike">
              <a:solidFill>
                <a:schemeClr val="dk1"/>
              </a:solidFill>
              <a:latin typeface="Calibri"/>
              <a:ea typeface="Calibri"/>
              <a:cs typeface="Calibri"/>
              <a:sym typeface="Calibri"/>
            </a:endParaRPr>
          </a:p>
        </p:txBody>
      </p:sp>
      <p:sp>
        <p:nvSpPr>
          <p:cNvPr id="103" name="Google Shape;103;p20"/>
          <p:cNvSpPr/>
          <p:nvPr/>
        </p:nvSpPr>
        <p:spPr>
          <a:xfrm>
            <a:off x="411480" y="2201418"/>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Create a new database named studentdb in Atlas</a:t>
            </a:r>
            <a:endParaRPr b="0" i="0" sz="1100" u="none" cap="none" strike="noStrike">
              <a:solidFill>
                <a:schemeClr val="dk1"/>
              </a:solidFill>
              <a:latin typeface="Calibri"/>
              <a:ea typeface="Calibri"/>
              <a:cs typeface="Calibri"/>
              <a:sym typeface="Calibri"/>
            </a:endParaRPr>
          </a:p>
        </p:txBody>
      </p:sp>
      <p:sp>
        <p:nvSpPr>
          <p:cNvPr id="104" name="Google Shape;104;p20"/>
          <p:cNvSpPr/>
          <p:nvPr/>
        </p:nvSpPr>
        <p:spPr>
          <a:xfrm>
            <a:off x="411480" y="261975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Create an index on email before connecting</a:t>
            </a:r>
            <a:endParaRPr b="0" i="0" sz="1100" u="none" cap="none" strike="noStrike">
              <a:solidFill>
                <a:schemeClr val="dk1"/>
              </a:solidFill>
              <a:latin typeface="Calibri"/>
              <a:ea typeface="Calibri"/>
              <a:cs typeface="Calibri"/>
              <a:sym typeface="Calibri"/>
            </a:endParaRPr>
          </a:p>
        </p:txBody>
      </p:sp>
      <p:sp>
        <p:nvSpPr>
          <p:cNvPr id="105" name="Google Shape;105;p20"/>
          <p:cNvSpPr/>
          <p:nvPr/>
        </p:nvSpPr>
        <p:spPr>
          <a:xfrm>
            <a:off x="411480" y="3038094"/>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Import a JSON file into the students collection first</a:t>
            </a:r>
            <a:endParaRPr b="0" i="0" sz="1100" u="none" cap="none" strike="noStrike">
              <a:solidFill>
                <a:schemeClr val="dk1"/>
              </a:solidFill>
              <a:latin typeface="Calibri"/>
              <a:ea typeface="Calibri"/>
              <a:cs typeface="Calibri"/>
              <a:sym typeface="Calibri"/>
            </a:endParaRPr>
          </a:p>
        </p:txBody>
      </p:sp>
      <p:sp>
        <p:nvSpPr>
          <p:cNvPr id="106" name="Google Shape;106;p20"/>
          <p:cNvSpPr/>
          <p:nvPr/>
        </p:nvSpPr>
        <p:spPr>
          <a:xfrm>
            <a:off x="411480" y="3502152"/>
            <a:ext cx="8321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Correct answer: 1</a:t>
            </a:r>
            <a:endParaRPr b="0" i="0" sz="1100" u="none" cap="none" strike="noStrike">
              <a:solidFill>
                <a:schemeClr val="dk1"/>
              </a:solidFill>
              <a:latin typeface="Calibri"/>
              <a:ea typeface="Calibri"/>
              <a:cs typeface="Calibri"/>
              <a:sym typeface="Calibri"/>
            </a:endParaRPr>
          </a:p>
        </p:txBody>
      </p:sp>
      <p:sp>
        <p:nvSpPr>
          <p:cNvPr id="107" name="Google Shape;107;p20"/>
          <p:cNvSpPr/>
          <p:nvPr/>
        </p:nvSpPr>
        <p:spPr>
          <a:xfrm>
            <a:off x="411480" y="3730752"/>
            <a:ext cx="83210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Atlas blocks connections from unknown IP addresses by default. Adding your current IP in Network Access is usually the first step to allow Compass to connect.</a:t>
            </a:r>
            <a:endParaRPr b="0" i="0" sz="1100" u="none" cap="none" strike="noStrike">
              <a:solidFill>
                <a:schemeClr val="dk1"/>
              </a:solidFill>
              <a:latin typeface="Calibri"/>
              <a:ea typeface="Calibri"/>
              <a:cs typeface="Calibri"/>
              <a:sym typeface="Calibri"/>
            </a:endParaRPr>
          </a:p>
        </p:txBody>
      </p:sp>
      <p:sp>
        <p:nvSpPr>
          <p:cNvPr id="108" name="Google Shape;108;p20"/>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21"/>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2</a:t>
            </a:r>
            <a:endParaRPr b="0" i="0" sz="2000" u="none" cap="none" strike="noStrike">
              <a:solidFill>
                <a:schemeClr val="dk1"/>
              </a:solidFill>
              <a:latin typeface="Calibri"/>
              <a:ea typeface="Calibri"/>
              <a:cs typeface="Calibri"/>
              <a:sym typeface="Calibri"/>
            </a:endParaRPr>
          </a:p>
        </p:txBody>
      </p:sp>
      <p:sp>
        <p:nvSpPr>
          <p:cNvPr id="115" name="Google Shape;115;p21"/>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In MongoDB Compass, you want to search for students where name contains the text "ki" ignoring case.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Which filter best matches that requirement?</a:t>
            </a:r>
            <a:endParaRPr b="0" i="0" sz="1300" u="none" cap="none" strike="noStrike">
              <a:solidFill>
                <a:schemeClr val="dk1"/>
              </a:solidFill>
              <a:latin typeface="Calibri"/>
              <a:ea typeface="Calibri"/>
              <a:cs typeface="Calibri"/>
              <a:sym typeface="Calibri"/>
            </a:endParaRPr>
          </a:p>
        </p:txBody>
      </p:sp>
      <p:sp>
        <p:nvSpPr>
          <p:cNvPr id="116" name="Google Shape;116;p21"/>
          <p:cNvSpPr/>
          <p:nvPr/>
        </p:nvSpPr>
        <p:spPr>
          <a:xfrm>
            <a:off x="411480" y="1783080"/>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 "name": "ki" }</a:t>
            </a:r>
            <a:endParaRPr b="0" i="0" sz="1100" u="none" cap="none" strike="noStrike">
              <a:solidFill>
                <a:schemeClr val="dk1"/>
              </a:solidFill>
              <a:latin typeface="Calibri"/>
              <a:ea typeface="Calibri"/>
              <a:cs typeface="Calibri"/>
              <a:sym typeface="Calibri"/>
            </a:endParaRPr>
          </a:p>
        </p:txBody>
      </p:sp>
      <p:sp>
        <p:nvSpPr>
          <p:cNvPr id="117" name="Google Shape;117;p21"/>
          <p:cNvSpPr/>
          <p:nvPr/>
        </p:nvSpPr>
        <p:spPr>
          <a:xfrm>
            <a:off x="411480" y="2201418"/>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 "name": { "$regex": "ki", "$options": "i" } }</a:t>
            </a:r>
            <a:endParaRPr b="0" i="0" sz="1100" u="none" cap="none" strike="noStrike">
              <a:solidFill>
                <a:schemeClr val="dk1"/>
              </a:solidFill>
              <a:latin typeface="Calibri"/>
              <a:ea typeface="Calibri"/>
              <a:cs typeface="Calibri"/>
              <a:sym typeface="Calibri"/>
            </a:endParaRPr>
          </a:p>
        </p:txBody>
      </p:sp>
      <p:sp>
        <p:nvSpPr>
          <p:cNvPr id="118" name="Google Shape;118;p21"/>
          <p:cNvSpPr/>
          <p:nvPr/>
        </p:nvSpPr>
        <p:spPr>
          <a:xfrm>
            <a:off x="411480" y="261975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 "name": { "$contains": "ki" } }</a:t>
            </a:r>
            <a:endParaRPr b="0" i="0" sz="1100" u="none" cap="none" strike="noStrike">
              <a:solidFill>
                <a:schemeClr val="dk1"/>
              </a:solidFill>
              <a:latin typeface="Calibri"/>
              <a:ea typeface="Calibri"/>
              <a:cs typeface="Calibri"/>
              <a:sym typeface="Calibri"/>
            </a:endParaRPr>
          </a:p>
        </p:txBody>
      </p:sp>
      <p:sp>
        <p:nvSpPr>
          <p:cNvPr id="119" name="Google Shape;119;p21"/>
          <p:cNvSpPr/>
          <p:nvPr/>
        </p:nvSpPr>
        <p:spPr>
          <a:xfrm>
            <a:off x="411480" y="3038094"/>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 "$regex": { "name": "ki" } }</a:t>
            </a:r>
            <a:endParaRPr b="0" i="0" sz="1100" u="none" cap="none" strike="noStrike">
              <a:solidFill>
                <a:schemeClr val="dk1"/>
              </a:solidFill>
              <a:latin typeface="Calibri"/>
              <a:ea typeface="Calibri"/>
              <a:cs typeface="Calibri"/>
              <a:sym typeface="Calibri"/>
            </a:endParaRPr>
          </a:p>
        </p:txBody>
      </p:sp>
      <p:sp>
        <p:nvSpPr>
          <p:cNvPr id="120" name="Google Shape;120;p21"/>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22"/>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2</a:t>
            </a:r>
            <a:endParaRPr b="0" i="0" sz="2000" u="none" cap="none" strike="noStrike">
              <a:solidFill>
                <a:schemeClr val="dk1"/>
              </a:solidFill>
              <a:latin typeface="Calibri"/>
              <a:ea typeface="Calibri"/>
              <a:cs typeface="Calibri"/>
              <a:sym typeface="Calibri"/>
            </a:endParaRPr>
          </a:p>
        </p:txBody>
      </p:sp>
      <p:sp>
        <p:nvSpPr>
          <p:cNvPr id="127" name="Google Shape;127;p22"/>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In MongoDB Compass, you want to search for students where name contains the text "ki" ignoring case.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Which filter best matches that requirement?</a:t>
            </a:r>
            <a:endParaRPr b="0" i="0" sz="1300" u="none" cap="none" strike="noStrike">
              <a:solidFill>
                <a:schemeClr val="dk1"/>
              </a:solidFill>
              <a:latin typeface="Calibri"/>
              <a:ea typeface="Calibri"/>
              <a:cs typeface="Calibri"/>
              <a:sym typeface="Calibri"/>
            </a:endParaRPr>
          </a:p>
        </p:txBody>
      </p:sp>
      <p:sp>
        <p:nvSpPr>
          <p:cNvPr id="128" name="Google Shape;128;p22"/>
          <p:cNvSpPr/>
          <p:nvPr/>
        </p:nvSpPr>
        <p:spPr>
          <a:xfrm>
            <a:off x="411480" y="1783080"/>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 "name": "ki" }</a:t>
            </a:r>
            <a:endParaRPr b="0" i="0" sz="1100" u="none" cap="none" strike="noStrike">
              <a:solidFill>
                <a:schemeClr val="dk1"/>
              </a:solidFill>
              <a:latin typeface="Calibri"/>
              <a:ea typeface="Calibri"/>
              <a:cs typeface="Calibri"/>
              <a:sym typeface="Calibri"/>
            </a:endParaRPr>
          </a:p>
        </p:txBody>
      </p:sp>
      <p:sp>
        <p:nvSpPr>
          <p:cNvPr id="129" name="Google Shape;129;p22"/>
          <p:cNvSpPr/>
          <p:nvPr/>
        </p:nvSpPr>
        <p:spPr>
          <a:xfrm>
            <a:off x="411480" y="2201418"/>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 "name": { "$regex": "ki", "$options": "i" } }</a:t>
            </a:r>
            <a:endParaRPr b="0" i="0" sz="1100" u="none" cap="none" strike="noStrike">
              <a:solidFill>
                <a:schemeClr val="dk1"/>
              </a:solidFill>
              <a:latin typeface="Calibri"/>
              <a:ea typeface="Calibri"/>
              <a:cs typeface="Calibri"/>
              <a:sym typeface="Calibri"/>
            </a:endParaRPr>
          </a:p>
        </p:txBody>
      </p:sp>
      <p:sp>
        <p:nvSpPr>
          <p:cNvPr id="130" name="Google Shape;130;p22"/>
          <p:cNvSpPr/>
          <p:nvPr/>
        </p:nvSpPr>
        <p:spPr>
          <a:xfrm>
            <a:off x="411480" y="261975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 "name": { "$contains": "ki" } }</a:t>
            </a:r>
            <a:endParaRPr b="0" i="0" sz="1100" u="none" cap="none" strike="noStrike">
              <a:solidFill>
                <a:schemeClr val="dk1"/>
              </a:solidFill>
              <a:latin typeface="Calibri"/>
              <a:ea typeface="Calibri"/>
              <a:cs typeface="Calibri"/>
              <a:sym typeface="Calibri"/>
            </a:endParaRPr>
          </a:p>
        </p:txBody>
      </p:sp>
      <p:sp>
        <p:nvSpPr>
          <p:cNvPr id="131" name="Google Shape;131;p22"/>
          <p:cNvSpPr/>
          <p:nvPr/>
        </p:nvSpPr>
        <p:spPr>
          <a:xfrm>
            <a:off x="411480" y="3038094"/>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 "$regex": { "name": "ki" } }</a:t>
            </a:r>
            <a:endParaRPr b="0" i="0" sz="1100" u="none" cap="none" strike="noStrike">
              <a:solidFill>
                <a:schemeClr val="dk1"/>
              </a:solidFill>
              <a:latin typeface="Calibri"/>
              <a:ea typeface="Calibri"/>
              <a:cs typeface="Calibri"/>
              <a:sym typeface="Calibri"/>
            </a:endParaRPr>
          </a:p>
        </p:txBody>
      </p:sp>
      <p:sp>
        <p:nvSpPr>
          <p:cNvPr id="132" name="Google Shape;132;p22"/>
          <p:cNvSpPr/>
          <p:nvPr/>
        </p:nvSpPr>
        <p:spPr>
          <a:xfrm>
            <a:off x="411480" y="3502152"/>
            <a:ext cx="8321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Correct answer: 2</a:t>
            </a:r>
            <a:endParaRPr b="0" i="0" sz="1100" u="none" cap="none" strike="noStrike">
              <a:solidFill>
                <a:schemeClr val="dk1"/>
              </a:solidFill>
              <a:latin typeface="Calibri"/>
              <a:ea typeface="Calibri"/>
              <a:cs typeface="Calibri"/>
              <a:sym typeface="Calibri"/>
            </a:endParaRPr>
          </a:p>
        </p:txBody>
      </p:sp>
      <p:sp>
        <p:nvSpPr>
          <p:cNvPr id="133" name="Google Shape;133;p22"/>
          <p:cNvSpPr/>
          <p:nvPr/>
        </p:nvSpPr>
        <p:spPr>
          <a:xfrm>
            <a:off x="411480" y="3730752"/>
            <a:ext cx="83210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The $regex operator matches patterns inside a string and the option i makes the match case-insensitive.</a:t>
            </a:r>
            <a:endParaRPr b="0" i="0" sz="1100" u="none" cap="none" strike="noStrike">
              <a:solidFill>
                <a:schemeClr val="dk1"/>
              </a:solidFill>
              <a:latin typeface="Calibri"/>
              <a:ea typeface="Calibri"/>
              <a:cs typeface="Calibri"/>
              <a:sym typeface="Calibri"/>
            </a:endParaRPr>
          </a:p>
        </p:txBody>
      </p:sp>
      <p:sp>
        <p:nvSpPr>
          <p:cNvPr id="134" name="Google Shape;134;p22"/>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23"/>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3</a:t>
            </a:r>
            <a:endParaRPr b="0" i="0" sz="2000" u="none" cap="none" strike="noStrike">
              <a:solidFill>
                <a:schemeClr val="dk1"/>
              </a:solidFill>
              <a:latin typeface="Calibri"/>
              <a:ea typeface="Calibri"/>
              <a:cs typeface="Calibri"/>
              <a:sym typeface="Calibri"/>
            </a:endParaRPr>
          </a:p>
        </p:txBody>
      </p:sp>
      <p:sp>
        <p:nvSpPr>
          <p:cNvPr id="141" name="Google Shape;141;p23"/>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In MongoDB Compass, you run this query often.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Find active students in Bengaluru and sort by name.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Which index is the best fit to support this query pattern?</a:t>
            </a:r>
            <a:endParaRPr b="0" i="0" sz="1300" u="none" cap="none" strike="noStrike">
              <a:solidFill>
                <a:schemeClr val="dk1"/>
              </a:solidFill>
              <a:latin typeface="Calibri"/>
              <a:ea typeface="Calibri"/>
              <a:cs typeface="Calibri"/>
              <a:sym typeface="Calibri"/>
            </a:endParaRPr>
          </a:p>
        </p:txBody>
      </p:sp>
      <p:sp>
        <p:nvSpPr>
          <p:cNvPr id="142" name="Google Shape;142;p23"/>
          <p:cNvSpPr/>
          <p:nvPr/>
        </p:nvSpPr>
        <p:spPr>
          <a:xfrm>
            <a:off x="411480" y="1783080"/>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 "name": 1 }</a:t>
            </a:r>
            <a:endParaRPr b="0" i="0" sz="1100" u="none" cap="none" strike="noStrike">
              <a:solidFill>
                <a:schemeClr val="dk1"/>
              </a:solidFill>
              <a:latin typeface="Calibri"/>
              <a:ea typeface="Calibri"/>
              <a:cs typeface="Calibri"/>
              <a:sym typeface="Calibri"/>
            </a:endParaRPr>
          </a:p>
        </p:txBody>
      </p:sp>
      <p:sp>
        <p:nvSpPr>
          <p:cNvPr id="143" name="Google Shape;143;p23"/>
          <p:cNvSpPr/>
          <p:nvPr/>
        </p:nvSpPr>
        <p:spPr>
          <a:xfrm>
            <a:off x="411480" y="2201418"/>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 "city": 1 }</a:t>
            </a:r>
            <a:endParaRPr b="0" i="0" sz="1100" u="none" cap="none" strike="noStrike">
              <a:solidFill>
                <a:schemeClr val="dk1"/>
              </a:solidFill>
              <a:latin typeface="Calibri"/>
              <a:ea typeface="Calibri"/>
              <a:cs typeface="Calibri"/>
              <a:sym typeface="Calibri"/>
            </a:endParaRPr>
          </a:p>
        </p:txBody>
      </p:sp>
      <p:sp>
        <p:nvSpPr>
          <p:cNvPr id="144" name="Google Shape;144;p23"/>
          <p:cNvSpPr/>
          <p:nvPr/>
        </p:nvSpPr>
        <p:spPr>
          <a:xfrm>
            <a:off x="411480" y="261975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 "active": 1, "city": 1, "name": 1 }</a:t>
            </a:r>
            <a:endParaRPr b="0" i="0" sz="1100" u="none" cap="none" strike="noStrike">
              <a:solidFill>
                <a:schemeClr val="dk1"/>
              </a:solidFill>
              <a:latin typeface="Calibri"/>
              <a:ea typeface="Calibri"/>
              <a:cs typeface="Calibri"/>
              <a:sym typeface="Calibri"/>
            </a:endParaRPr>
          </a:p>
        </p:txBody>
      </p:sp>
      <p:sp>
        <p:nvSpPr>
          <p:cNvPr id="145" name="Google Shape;145;p23"/>
          <p:cNvSpPr/>
          <p:nvPr/>
        </p:nvSpPr>
        <p:spPr>
          <a:xfrm>
            <a:off x="411480" y="3038094"/>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 "email": 1 }</a:t>
            </a:r>
            <a:endParaRPr b="0" i="0" sz="1100" u="none" cap="none" strike="noStrike">
              <a:solidFill>
                <a:schemeClr val="dk1"/>
              </a:solidFill>
              <a:latin typeface="Calibri"/>
              <a:ea typeface="Calibri"/>
              <a:cs typeface="Calibri"/>
              <a:sym typeface="Calibri"/>
            </a:endParaRPr>
          </a:p>
        </p:txBody>
      </p:sp>
      <p:sp>
        <p:nvSpPr>
          <p:cNvPr id="146" name="Google Shape;146;p23"/>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24"/>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3</a:t>
            </a:r>
            <a:endParaRPr b="0" i="0" sz="2000" u="none" cap="none" strike="noStrike">
              <a:solidFill>
                <a:schemeClr val="dk1"/>
              </a:solidFill>
              <a:latin typeface="Calibri"/>
              <a:ea typeface="Calibri"/>
              <a:cs typeface="Calibri"/>
              <a:sym typeface="Calibri"/>
            </a:endParaRPr>
          </a:p>
        </p:txBody>
      </p:sp>
      <p:sp>
        <p:nvSpPr>
          <p:cNvPr id="153" name="Google Shape;153;p24"/>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In MongoDB Compass, you run this query often.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Find active students in Bengaluru and sort by name.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Which index is the best fit to support this query pattern?</a:t>
            </a:r>
            <a:endParaRPr b="0" i="0" sz="1300" u="none" cap="none" strike="noStrike">
              <a:solidFill>
                <a:schemeClr val="dk1"/>
              </a:solidFill>
              <a:latin typeface="Calibri"/>
              <a:ea typeface="Calibri"/>
              <a:cs typeface="Calibri"/>
              <a:sym typeface="Calibri"/>
            </a:endParaRPr>
          </a:p>
        </p:txBody>
      </p:sp>
      <p:sp>
        <p:nvSpPr>
          <p:cNvPr id="154" name="Google Shape;154;p24"/>
          <p:cNvSpPr/>
          <p:nvPr/>
        </p:nvSpPr>
        <p:spPr>
          <a:xfrm>
            <a:off x="411480" y="1783080"/>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 "name": 1 }</a:t>
            </a:r>
            <a:endParaRPr b="0" i="0" sz="1100" u="none" cap="none" strike="noStrike">
              <a:solidFill>
                <a:schemeClr val="dk1"/>
              </a:solidFill>
              <a:latin typeface="Calibri"/>
              <a:ea typeface="Calibri"/>
              <a:cs typeface="Calibri"/>
              <a:sym typeface="Calibri"/>
            </a:endParaRPr>
          </a:p>
        </p:txBody>
      </p:sp>
      <p:sp>
        <p:nvSpPr>
          <p:cNvPr id="155" name="Google Shape;155;p24"/>
          <p:cNvSpPr/>
          <p:nvPr/>
        </p:nvSpPr>
        <p:spPr>
          <a:xfrm>
            <a:off x="411480" y="2201418"/>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 "city": 1 }</a:t>
            </a:r>
            <a:endParaRPr b="0" i="0" sz="1100" u="none" cap="none" strike="noStrike">
              <a:solidFill>
                <a:schemeClr val="dk1"/>
              </a:solidFill>
              <a:latin typeface="Calibri"/>
              <a:ea typeface="Calibri"/>
              <a:cs typeface="Calibri"/>
              <a:sym typeface="Calibri"/>
            </a:endParaRPr>
          </a:p>
        </p:txBody>
      </p:sp>
      <p:sp>
        <p:nvSpPr>
          <p:cNvPr id="156" name="Google Shape;156;p24"/>
          <p:cNvSpPr/>
          <p:nvPr/>
        </p:nvSpPr>
        <p:spPr>
          <a:xfrm>
            <a:off x="411480" y="261975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 "active": 1, "city": 1, "name": 1 }</a:t>
            </a:r>
            <a:endParaRPr b="0" i="0" sz="1100" u="none" cap="none" strike="noStrike">
              <a:solidFill>
                <a:schemeClr val="dk1"/>
              </a:solidFill>
              <a:latin typeface="Calibri"/>
              <a:ea typeface="Calibri"/>
              <a:cs typeface="Calibri"/>
              <a:sym typeface="Calibri"/>
            </a:endParaRPr>
          </a:p>
        </p:txBody>
      </p:sp>
      <p:sp>
        <p:nvSpPr>
          <p:cNvPr id="157" name="Google Shape;157;p24"/>
          <p:cNvSpPr/>
          <p:nvPr/>
        </p:nvSpPr>
        <p:spPr>
          <a:xfrm>
            <a:off x="411480" y="3038094"/>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 "email": 1 }</a:t>
            </a:r>
            <a:endParaRPr b="0" i="0" sz="1100" u="none" cap="none" strike="noStrike">
              <a:solidFill>
                <a:schemeClr val="dk1"/>
              </a:solidFill>
              <a:latin typeface="Calibri"/>
              <a:ea typeface="Calibri"/>
              <a:cs typeface="Calibri"/>
              <a:sym typeface="Calibri"/>
            </a:endParaRPr>
          </a:p>
        </p:txBody>
      </p:sp>
      <p:sp>
        <p:nvSpPr>
          <p:cNvPr id="158" name="Google Shape;158;p24"/>
          <p:cNvSpPr/>
          <p:nvPr/>
        </p:nvSpPr>
        <p:spPr>
          <a:xfrm>
            <a:off x="411480" y="3502152"/>
            <a:ext cx="8321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Correct answer: 3</a:t>
            </a:r>
            <a:endParaRPr b="0" i="0" sz="1100" u="none" cap="none" strike="noStrike">
              <a:solidFill>
                <a:schemeClr val="dk1"/>
              </a:solidFill>
              <a:latin typeface="Calibri"/>
              <a:ea typeface="Calibri"/>
              <a:cs typeface="Calibri"/>
              <a:sym typeface="Calibri"/>
            </a:endParaRPr>
          </a:p>
        </p:txBody>
      </p:sp>
      <p:sp>
        <p:nvSpPr>
          <p:cNvPr id="159" name="Google Shape;159;p24"/>
          <p:cNvSpPr/>
          <p:nvPr/>
        </p:nvSpPr>
        <p:spPr>
          <a:xfrm>
            <a:off x="411480" y="3730752"/>
            <a:ext cx="83210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The query filters by active and city and then sorts by name. A compound index that starts with the filter fields and includes the sort field supports this pattern efficiently.</a:t>
            </a:r>
            <a:endParaRPr b="0" i="0" sz="1100" u="none" cap="none" strike="noStrike">
              <a:solidFill>
                <a:schemeClr val="dk1"/>
              </a:solidFill>
              <a:latin typeface="Calibri"/>
              <a:ea typeface="Calibri"/>
              <a:cs typeface="Calibri"/>
              <a:sym typeface="Calibri"/>
            </a:endParaRPr>
          </a:p>
        </p:txBody>
      </p:sp>
      <p:sp>
        <p:nvSpPr>
          <p:cNvPr id="160" name="Google Shape;160;p24"/>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25"/>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4</a:t>
            </a:r>
            <a:endParaRPr b="0" i="0" sz="2000" u="none" cap="none" strike="noStrike">
              <a:solidFill>
                <a:schemeClr val="dk1"/>
              </a:solidFill>
              <a:latin typeface="Calibri"/>
              <a:ea typeface="Calibri"/>
              <a:cs typeface="Calibri"/>
              <a:sym typeface="Calibri"/>
            </a:endParaRPr>
          </a:p>
        </p:txBody>
      </p:sp>
      <p:sp>
        <p:nvSpPr>
          <p:cNvPr id="167" name="Google Shape;167;p25"/>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Context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A food delivery app stores orders. Each order has 1 to 5 items, and each item has name, quantity, and price.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Most screens show the order together with its items.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How should you model order items in MongoDB?</a:t>
            </a:r>
            <a:endParaRPr b="0" i="0" sz="1300" u="none" cap="none" strike="noStrike">
              <a:solidFill>
                <a:schemeClr val="dk1"/>
              </a:solidFill>
              <a:latin typeface="Calibri"/>
              <a:ea typeface="Calibri"/>
              <a:cs typeface="Calibri"/>
              <a:sym typeface="Calibri"/>
            </a:endParaRPr>
          </a:p>
        </p:txBody>
      </p:sp>
      <p:sp>
        <p:nvSpPr>
          <p:cNvPr id="168" name="Google Shape;168;p25"/>
          <p:cNvSpPr/>
          <p:nvPr/>
        </p:nvSpPr>
        <p:spPr>
          <a:xfrm>
            <a:off x="411480" y="1783080"/>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Store items inside the Order document as an embedded array</a:t>
            </a:r>
            <a:endParaRPr b="0" i="0" sz="1100" u="none" cap="none" strike="noStrike">
              <a:solidFill>
                <a:schemeClr val="dk1"/>
              </a:solidFill>
              <a:latin typeface="Calibri"/>
              <a:ea typeface="Calibri"/>
              <a:cs typeface="Calibri"/>
              <a:sym typeface="Calibri"/>
            </a:endParaRPr>
          </a:p>
        </p:txBody>
      </p:sp>
      <p:sp>
        <p:nvSpPr>
          <p:cNvPr id="169" name="Google Shape;169;p25"/>
          <p:cNvSpPr/>
          <p:nvPr/>
        </p:nvSpPr>
        <p:spPr>
          <a:xfrm>
            <a:off x="411480" y="2201418"/>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Store items in a separate items collection and store itemIds in Order</a:t>
            </a:r>
            <a:endParaRPr b="0" i="0" sz="1100" u="none" cap="none" strike="noStrike">
              <a:solidFill>
                <a:schemeClr val="dk1"/>
              </a:solidFill>
              <a:latin typeface="Calibri"/>
              <a:ea typeface="Calibri"/>
              <a:cs typeface="Calibri"/>
              <a:sym typeface="Calibri"/>
            </a:endParaRPr>
          </a:p>
        </p:txBody>
      </p:sp>
      <p:sp>
        <p:nvSpPr>
          <p:cNvPr id="170" name="Google Shape;170;p25"/>
          <p:cNvSpPr/>
          <p:nvPr/>
        </p:nvSpPr>
        <p:spPr>
          <a:xfrm>
            <a:off x="411480" y="261975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Store items in the courses collection because arrays are not allowed in MongoDB</a:t>
            </a:r>
            <a:endParaRPr b="0" i="0" sz="1100" u="none" cap="none" strike="noStrike">
              <a:solidFill>
                <a:schemeClr val="dk1"/>
              </a:solidFill>
              <a:latin typeface="Calibri"/>
              <a:ea typeface="Calibri"/>
              <a:cs typeface="Calibri"/>
              <a:sym typeface="Calibri"/>
            </a:endParaRPr>
          </a:p>
        </p:txBody>
      </p:sp>
      <p:sp>
        <p:nvSpPr>
          <p:cNvPr id="171" name="Google Shape;171;p25"/>
          <p:cNvSpPr/>
          <p:nvPr/>
        </p:nvSpPr>
        <p:spPr>
          <a:xfrm>
            <a:off x="411480" y="3038094"/>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Store items in a separate database because items are large</a:t>
            </a:r>
            <a:endParaRPr b="0" i="0" sz="1100" u="none" cap="none" strike="noStrike">
              <a:solidFill>
                <a:schemeClr val="dk1"/>
              </a:solidFill>
              <a:latin typeface="Calibri"/>
              <a:ea typeface="Calibri"/>
              <a:cs typeface="Calibri"/>
              <a:sym typeface="Calibri"/>
            </a:endParaRPr>
          </a:p>
        </p:txBody>
      </p:sp>
      <p:sp>
        <p:nvSpPr>
          <p:cNvPr id="172" name="Google Shape;172;p25"/>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26"/>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4</a:t>
            </a:r>
            <a:endParaRPr b="0" i="0" sz="2000" u="none" cap="none" strike="noStrike">
              <a:solidFill>
                <a:schemeClr val="dk1"/>
              </a:solidFill>
              <a:latin typeface="Calibri"/>
              <a:ea typeface="Calibri"/>
              <a:cs typeface="Calibri"/>
              <a:sym typeface="Calibri"/>
            </a:endParaRPr>
          </a:p>
        </p:txBody>
      </p:sp>
      <p:sp>
        <p:nvSpPr>
          <p:cNvPr id="179" name="Google Shape;179;p26"/>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Context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A food delivery app stores orders. Each order has 1 to 5 items, and each item has name, quantity, and price.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Most screens show the order together with its items.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How should you model order items in MongoDB?</a:t>
            </a:r>
            <a:endParaRPr b="0" i="0" sz="1300" u="none" cap="none" strike="noStrike">
              <a:solidFill>
                <a:schemeClr val="dk1"/>
              </a:solidFill>
              <a:latin typeface="Calibri"/>
              <a:ea typeface="Calibri"/>
              <a:cs typeface="Calibri"/>
              <a:sym typeface="Calibri"/>
            </a:endParaRPr>
          </a:p>
        </p:txBody>
      </p:sp>
      <p:sp>
        <p:nvSpPr>
          <p:cNvPr id="180" name="Google Shape;180;p26"/>
          <p:cNvSpPr/>
          <p:nvPr/>
        </p:nvSpPr>
        <p:spPr>
          <a:xfrm>
            <a:off x="411480" y="1783080"/>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Store items inside the Order document as an embedded array</a:t>
            </a:r>
            <a:endParaRPr b="0" i="0" sz="1100" u="none" cap="none" strike="noStrike">
              <a:solidFill>
                <a:schemeClr val="dk1"/>
              </a:solidFill>
              <a:latin typeface="Calibri"/>
              <a:ea typeface="Calibri"/>
              <a:cs typeface="Calibri"/>
              <a:sym typeface="Calibri"/>
            </a:endParaRPr>
          </a:p>
        </p:txBody>
      </p:sp>
      <p:sp>
        <p:nvSpPr>
          <p:cNvPr id="181" name="Google Shape;181;p26"/>
          <p:cNvSpPr/>
          <p:nvPr/>
        </p:nvSpPr>
        <p:spPr>
          <a:xfrm>
            <a:off x="411480" y="2201418"/>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Store items in a separate items collection and store itemIds in Order</a:t>
            </a:r>
            <a:endParaRPr b="0" i="0" sz="1100" u="none" cap="none" strike="noStrike">
              <a:solidFill>
                <a:schemeClr val="dk1"/>
              </a:solidFill>
              <a:latin typeface="Calibri"/>
              <a:ea typeface="Calibri"/>
              <a:cs typeface="Calibri"/>
              <a:sym typeface="Calibri"/>
            </a:endParaRPr>
          </a:p>
        </p:txBody>
      </p:sp>
      <p:sp>
        <p:nvSpPr>
          <p:cNvPr id="182" name="Google Shape;182;p26"/>
          <p:cNvSpPr/>
          <p:nvPr/>
        </p:nvSpPr>
        <p:spPr>
          <a:xfrm>
            <a:off x="411480" y="261975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Store items in the courses collection because arrays are not allowed in MongoDB</a:t>
            </a:r>
            <a:endParaRPr b="0" i="0" sz="1100" u="none" cap="none" strike="noStrike">
              <a:solidFill>
                <a:schemeClr val="dk1"/>
              </a:solidFill>
              <a:latin typeface="Calibri"/>
              <a:ea typeface="Calibri"/>
              <a:cs typeface="Calibri"/>
              <a:sym typeface="Calibri"/>
            </a:endParaRPr>
          </a:p>
        </p:txBody>
      </p:sp>
      <p:sp>
        <p:nvSpPr>
          <p:cNvPr id="183" name="Google Shape;183;p26"/>
          <p:cNvSpPr/>
          <p:nvPr/>
        </p:nvSpPr>
        <p:spPr>
          <a:xfrm>
            <a:off x="411480" y="3038094"/>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Store items in a separate database because items are large</a:t>
            </a:r>
            <a:endParaRPr b="0" i="0" sz="1100" u="none" cap="none" strike="noStrike">
              <a:solidFill>
                <a:schemeClr val="dk1"/>
              </a:solidFill>
              <a:latin typeface="Calibri"/>
              <a:ea typeface="Calibri"/>
              <a:cs typeface="Calibri"/>
              <a:sym typeface="Calibri"/>
            </a:endParaRPr>
          </a:p>
        </p:txBody>
      </p:sp>
      <p:sp>
        <p:nvSpPr>
          <p:cNvPr id="184" name="Google Shape;184;p26"/>
          <p:cNvSpPr/>
          <p:nvPr/>
        </p:nvSpPr>
        <p:spPr>
          <a:xfrm>
            <a:off x="411480" y="3502152"/>
            <a:ext cx="8321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Correct answer: 1</a:t>
            </a:r>
            <a:endParaRPr b="0" i="0" sz="1100" u="none" cap="none" strike="noStrike">
              <a:solidFill>
                <a:schemeClr val="dk1"/>
              </a:solidFill>
              <a:latin typeface="Calibri"/>
              <a:ea typeface="Calibri"/>
              <a:cs typeface="Calibri"/>
              <a:sym typeface="Calibri"/>
            </a:endParaRPr>
          </a:p>
        </p:txBody>
      </p:sp>
      <p:sp>
        <p:nvSpPr>
          <p:cNvPr id="185" name="Google Shape;185;p26"/>
          <p:cNvSpPr/>
          <p:nvPr/>
        </p:nvSpPr>
        <p:spPr>
          <a:xfrm>
            <a:off x="411480" y="3730752"/>
            <a:ext cx="83210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Items are owned by the order and are usually read together with the order. Embedding keeps reads simple and avoids extra lookups.</a:t>
            </a:r>
            <a:endParaRPr b="0" i="0" sz="1100" u="none" cap="none" strike="noStrike">
              <a:solidFill>
                <a:schemeClr val="dk1"/>
              </a:solidFill>
              <a:latin typeface="Calibri"/>
              <a:ea typeface="Calibri"/>
              <a:cs typeface="Calibri"/>
              <a:sym typeface="Calibri"/>
            </a:endParaRPr>
          </a:p>
        </p:txBody>
      </p:sp>
      <p:sp>
        <p:nvSpPr>
          <p:cNvPr id="186" name="Google Shape;186;p26"/>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27"/>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5</a:t>
            </a:r>
            <a:endParaRPr b="0" i="0" sz="2000" u="none" cap="none" strike="noStrike">
              <a:solidFill>
                <a:schemeClr val="dk1"/>
              </a:solidFill>
              <a:latin typeface="Calibri"/>
              <a:ea typeface="Calibri"/>
              <a:cs typeface="Calibri"/>
              <a:sym typeface="Calibri"/>
            </a:endParaRPr>
          </a:p>
        </p:txBody>
      </p:sp>
      <p:sp>
        <p:nvSpPr>
          <p:cNvPr id="193" name="Google Shape;193;p27"/>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You updated your code locally and want those exact changes to appear on GitHub in your repository.</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Which sequence is correct?</a:t>
            </a:r>
            <a:endParaRPr b="0" i="0" sz="1300" u="none" cap="none" strike="noStrike">
              <a:solidFill>
                <a:schemeClr val="dk1"/>
              </a:solidFill>
              <a:latin typeface="Calibri"/>
              <a:ea typeface="Calibri"/>
              <a:cs typeface="Calibri"/>
              <a:sym typeface="Calibri"/>
            </a:endParaRPr>
          </a:p>
        </p:txBody>
      </p:sp>
      <p:sp>
        <p:nvSpPr>
          <p:cNvPr id="194" name="Google Shape;194;p27"/>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
        <p:nvSpPr>
          <p:cNvPr id="195" name="Google Shape;195;p27"/>
          <p:cNvSpPr/>
          <p:nvPr/>
        </p:nvSpPr>
        <p:spPr>
          <a:xfrm>
            <a:off x="411480" y="1783080"/>
            <a:ext cx="83211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Stage the files (</a:t>
            </a:r>
            <a:r>
              <a:rPr lang="en" sz="1100">
                <a:solidFill>
                  <a:srgbClr val="1F2937"/>
                </a:solidFill>
                <a:latin typeface="Calibri"/>
                <a:ea typeface="Calibri"/>
                <a:cs typeface="Calibri"/>
                <a:sym typeface="Calibri"/>
              </a:rPr>
              <a:t>git add)</a:t>
            </a:r>
            <a:r>
              <a:rPr b="0" i="0" lang="en" sz="1100" u="none" cap="none" strike="noStrike">
                <a:solidFill>
                  <a:srgbClr val="1F2937"/>
                </a:solidFill>
                <a:latin typeface="Calibri"/>
                <a:ea typeface="Calibri"/>
                <a:cs typeface="Calibri"/>
                <a:sym typeface="Calibri"/>
              </a:rPr>
              <a:t>, commit the snapshot (git commit), push the commit (git push)</a:t>
            </a:r>
            <a:endParaRPr b="0" i="0" sz="1100" u="none" cap="none" strike="noStrike">
              <a:solidFill>
                <a:schemeClr val="dk1"/>
              </a:solidFill>
              <a:latin typeface="Calibri"/>
              <a:ea typeface="Calibri"/>
              <a:cs typeface="Calibri"/>
              <a:sym typeface="Calibri"/>
            </a:endParaRPr>
          </a:p>
        </p:txBody>
      </p:sp>
      <p:sp>
        <p:nvSpPr>
          <p:cNvPr id="196" name="Google Shape;196;p27"/>
          <p:cNvSpPr/>
          <p:nvPr/>
        </p:nvSpPr>
        <p:spPr>
          <a:xfrm>
            <a:off x="411480" y="2201418"/>
            <a:ext cx="83211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Commit the snapshot</a:t>
            </a:r>
            <a:r>
              <a:rPr lang="en" sz="1100">
                <a:solidFill>
                  <a:srgbClr val="1F2937"/>
                </a:solidFill>
                <a:latin typeface="Calibri"/>
                <a:ea typeface="Calibri"/>
                <a:cs typeface="Calibri"/>
                <a:sym typeface="Calibri"/>
              </a:rPr>
              <a:t> (git commit)</a:t>
            </a:r>
            <a:r>
              <a:rPr b="0" i="0" lang="en" sz="1100" u="none" cap="none" strike="noStrike">
                <a:solidFill>
                  <a:srgbClr val="1F2937"/>
                </a:solidFill>
                <a:latin typeface="Calibri"/>
                <a:ea typeface="Calibri"/>
                <a:cs typeface="Calibri"/>
                <a:sym typeface="Calibri"/>
              </a:rPr>
              <a:t>, stage the files</a:t>
            </a:r>
            <a:r>
              <a:rPr lang="en" sz="1100">
                <a:solidFill>
                  <a:srgbClr val="1F2937"/>
                </a:solidFill>
                <a:latin typeface="Calibri"/>
                <a:ea typeface="Calibri"/>
                <a:cs typeface="Calibri"/>
                <a:sym typeface="Calibri"/>
              </a:rPr>
              <a:t> (git add)</a:t>
            </a:r>
            <a:r>
              <a:rPr b="0" i="0" lang="en" sz="1100" u="none" cap="none" strike="noStrike">
                <a:solidFill>
                  <a:srgbClr val="1F2937"/>
                </a:solidFill>
                <a:latin typeface="Calibri"/>
                <a:ea typeface="Calibri"/>
                <a:cs typeface="Calibri"/>
                <a:sym typeface="Calibri"/>
              </a:rPr>
              <a:t>, push the commit</a:t>
            </a:r>
            <a:r>
              <a:rPr lang="en" sz="1100">
                <a:solidFill>
                  <a:srgbClr val="1F2937"/>
                </a:solidFill>
                <a:latin typeface="Calibri"/>
                <a:ea typeface="Calibri"/>
                <a:cs typeface="Calibri"/>
                <a:sym typeface="Calibri"/>
              </a:rPr>
              <a:t> (git push)</a:t>
            </a:r>
            <a:endParaRPr b="0" i="0" sz="1100" u="none" cap="none" strike="noStrike">
              <a:solidFill>
                <a:schemeClr val="dk1"/>
              </a:solidFill>
              <a:latin typeface="Calibri"/>
              <a:ea typeface="Calibri"/>
              <a:cs typeface="Calibri"/>
              <a:sym typeface="Calibri"/>
            </a:endParaRPr>
          </a:p>
        </p:txBody>
      </p:sp>
      <p:sp>
        <p:nvSpPr>
          <p:cNvPr id="197" name="Google Shape;197;p27"/>
          <p:cNvSpPr/>
          <p:nvPr/>
        </p:nvSpPr>
        <p:spPr>
          <a:xfrm>
            <a:off x="411480" y="2619756"/>
            <a:ext cx="83211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Push the commit</a:t>
            </a:r>
            <a:r>
              <a:rPr lang="en" sz="1100">
                <a:solidFill>
                  <a:srgbClr val="1F2937"/>
                </a:solidFill>
                <a:latin typeface="Calibri"/>
                <a:ea typeface="Calibri"/>
                <a:cs typeface="Calibri"/>
                <a:sym typeface="Calibri"/>
              </a:rPr>
              <a:t> (git push)</a:t>
            </a:r>
            <a:r>
              <a:rPr b="0" i="0" lang="en" sz="1100" u="none" cap="none" strike="noStrike">
                <a:solidFill>
                  <a:srgbClr val="1F2937"/>
                </a:solidFill>
                <a:latin typeface="Calibri"/>
                <a:ea typeface="Calibri"/>
                <a:cs typeface="Calibri"/>
                <a:sym typeface="Calibri"/>
              </a:rPr>
              <a:t>, stage the files</a:t>
            </a:r>
            <a:r>
              <a:rPr lang="en" sz="1100">
                <a:solidFill>
                  <a:srgbClr val="1F2937"/>
                </a:solidFill>
                <a:latin typeface="Calibri"/>
                <a:ea typeface="Calibri"/>
                <a:cs typeface="Calibri"/>
                <a:sym typeface="Calibri"/>
              </a:rPr>
              <a:t> (git add)</a:t>
            </a:r>
            <a:r>
              <a:rPr b="0" i="0" lang="en" sz="1100" u="none" cap="none" strike="noStrike">
                <a:solidFill>
                  <a:srgbClr val="1F2937"/>
                </a:solidFill>
                <a:latin typeface="Calibri"/>
                <a:ea typeface="Calibri"/>
                <a:cs typeface="Calibri"/>
                <a:sym typeface="Calibri"/>
              </a:rPr>
              <a:t>, commit the snapshot</a:t>
            </a:r>
            <a:r>
              <a:rPr lang="en" sz="1100">
                <a:solidFill>
                  <a:srgbClr val="1F2937"/>
                </a:solidFill>
                <a:latin typeface="Calibri"/>
                <a:ea typeface="Calibri"/>
                <a:cs typeface="Calibri"/>
                <a:sym typeface="Calibri"/>
              </a:rPr>
              <a:t> (git commit)</a:t>
            </a:r>
            <a:endParaRPr b="0" i="0" sz="1100" u="none" cap="none" strike="noStrike">
              <a:solidFill>
                <a:schemeClr val="dk1"/>
              </a:solidFill>
              <a:latin typeface="Calibri"/>
              <a:ea typeface="Calibri"/>
              <a:cs typeface="Calibri"/>
              <a:sym typeface="Calibri"/>
            </a:endParaRPr>
          </a:p>
        </p:txBody>
      </p:sp>
      <p:sp>
        <p:nvSpPr>
          <p:cNvPr id="198" name="Google Shape;198;p27"/>
          <p:cNvSpPr/>
          <p:nvPr/>
        </p:nvSpPr>
        <p:spPr>
          <a:xfrm>
            <a:off x="411480" y="3038094"/>
            <a:ext cx="83211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Pull from GitHub (git pull), push to GitHub</a:t>
            </a:r>
            <a:r>
              <a:rPr lang="en" sz="1100">
                <a:solidFill>
                  <a:srgbClr val="1F2937"/>
                </a:solidFill>
                <a:latin typeface="Calibri"/>
                <a:ea typeface="Calibri"/>
                <a:cs typeface="Calibri"/>
                <a:sym typeface="Calibri"/>
              </a:rPr>
              <a:t> (git push)</a:t>
            </a:r>
            <a:r>
              <a:rPr b="0" i="0" lang="en" sz="1100" u="none" cap="none" strike="noStrike">
                <a:solidFill>
                  <a:srgbClr val="1F2937"/>
                </a:solidFill>
                <a:latin typeface="Calibri"/>
                <a:ea typeface="Calibri"/>
                <a:cs typeface="Calibri"/>
                <a:sym typeface="Calibri"/>
              </a:rPr>
              <a:t>, then commit locally</a:t>
            </a:r>
            <a:r>
              <a:rPr lang="en" sz="1100">
                <a:solidFill>
                  <a:srgbClr val="1F2937"/>
                </a:solidFill>
                <a:latin typeface="Calibri"/>
                <a:ea typeface="Calibri"/>
                <a:cs typeface="Calibri"/>
                <a:sym typeface="Calibri"/>
              </a:rPr>
              <a:t> (git commit)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sp>
        <p:nvSpPr>
          <p:cNvPr id="204" name="Google Shape;204;p28"/>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5</a:t>
            </a:r>
            <a:endParaRPr b="0" i="0" sz="2000" u="none" cap="none" strike="noStrike">
              <a:solidFill>
                <a:schemeClr val="dk1"/>
              </a:solidFill>
              <a:latin typeface="Calibri"/>
              <a:ea typeface="Calibri"/>
              <a:cs typeface="Calibri"/>
              <a:sym typeface="Calibri"/>
            </a:endParaRPr>
          </a:p>
        </p:txBody>
      </p:sp>
      <p:sp>
        <p:nvSpPr>
          <p:cNvPr id="205" name="Google Shape;205;p28"/>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You updated your code locally and want those exact changes to appear on GitHub in your repository.</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Which sequence is correct?</a:t>
            </a:r>
            <a:endParaRPr b="0" i="0" sz="1300" u="none" cap="none" strike="noStrike">
              <a:solidFill>
                <a:schemeClr val="dk1"/>
              </a:solidFill>
              <a:latin typeface="Calibri"/>
              <a:ea typeface="Calibri"/>
              <a:cs typeface="Calibri"/>
              <a:sym typeface="Calibri"/>
            </a:endParaRPr>
          </a:p>
        </p:txBody>
      </p:sp>
      <p:sp>
        <p:nvSpPr>
          <p:cNvPr id="206" name="Google Shape;206;p28"/>
          <p:cNvSpPr/>
          <p:nvPr/>
        </p:nvSpPr>
        <p:spPr>
          <a:xfrm>
            <a:off x="411480" y="1783080"/>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Stage the files (</a:t>
            </a:r>
            <a:r>
              <a:rPr lang="en" sz="1100">
                <a:solidFill>
                  <a:srgbClr val="1F2937"/>
                </a:solidFill>
                <a:latin typeface="Calibri"/>
                <a:ea typeface="Calibri"/>
                <a:cs typeface="Calibri"/>
                <a:sym typeface="Calibri"/>
              </a:rPr>
              <a:t>git add)</a:t>
            </a:r>
            <a:r>
              <a:rPr b="0" i="0" lang="en" sz="1100" u="none" cap="none" strike="noStrike">
                <a:solidFill>
                  <a:srgbClr val="1F2937"/>
                </a:solidFill>
                <a:latin typeface="Calibri"/>
                <a:ea typeface="Calibri"/>
                <a:cs typeface="Calibri"/>
                <a:sym typeface="Calibri"/>
              </a:rPr>
              <a:t>, commit the snapshot (git commit), push the commit (git push)</a:t>
            </a:r>
            <a:endParaRPr b="0" i="0" sz="1100" u="none" cap="none" strike="noStrike">
              <a:solidFill>
                <a:schemeClr val="dk1"/>
              </a:solidFill>
              <a:latin typeface="Calibri"/>
              <a:ea typeface="Calibri"/>
              <a:cs typeface="Calibri"/>
              <a:sym typeface="Calibri"/>
            </a:endParaRPr>
          </a:p>
        </p:txBody>
      </p:sp>
      <p:sp>
        <p:nvSpPr>
          <p:cNvPr id="207" name="Google Shape;207;p28"/>
          <p:cNvSpPr/>
          <p:nvPr/>
        </p:nvSpPr>
        <p:spPr>
          <a:xfrm>
            <a:off x="411480" y="2201418"/>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Commit the snapshot</a:t>
            </a:r>
            <a:r>
              <a:rPr lang="en" sz="1100">
                <a:solidFill>
                  <a:srgbClr val="1F2937"/>
                </a:solidFill>
                <a:latin typeface="Calibri"/>
                <a:ea typeface="Calibri"/>
                <a:cs typeface="Calibri"/>
                <a:sym typeface="Calibri"/>
              </a:rPr>
              <a:t> (git commit)</a:t>
            </a:r>
            <a:r>
              <a:rPr b="0" i="0" lang="en" sz="1100" u="none" cap="none" strike="noStrike">
                <a:solidFill>
                  <a:srgbClr val="1F2937"/>
                </a:solidFill>
                <a:latin typeface="Calibri"/>
                <a:ea typeface="Calibri"/>
                <a:cs typeface="Calibri"/>
                <a:sym typeface="Calibri"/>
              </a:rPr>
              <a:t>, stage the files</a:t>
            </a:r>
            <a:r>
              <a:rPr lang="en" sz="1100">
                <a:solidFill>
                  <a:srgbClr val="1F2937"/>
                </a:solidFill>
                <a:latin typeface="Calibri"/>
                <a:ea typeface="Calibri"/>
                <a:cs typeface="Calibri"/>
                <a:sym typeface="Calibri"/>
              </a:rPr>
              <a:t> (git add)</a:t>
            </a:r>
            <a:r>
              <a:rPr b="0" i="0" lang="en" sz="1100" u="none" cap="none" strike="noStrike">
                <a:solidFill>
                  <a:srgbClr val="1F2937"/>
                </a:solidFill>
                <a:latin typeface="Calibri"/>
                <a:ea typeface="Calibri"/>
                <a:cs typeface="Calibri"/>
                <a:sym typeface="Calibri"/>
              </a:rPr>
              <a:t>, push the commit</a:t>
            </a:r>
            <a:r>
              <a:rPr lang="en" sz="1100">
                <a:solidFill>
                  <a:srgbClr val="1F2937"/>
                </a:solidFill>
                <a:latin typeface="Calibri"/>
                <a:ea typeface="Calibri"/>
                <a:cs typeface="Calibri"/>
                <a:sym typeface="Calibri"/>
              </a:rPr>
              <a:t> (git push)</a:t>
            </a:r>
            <a:endParaRPr b="0" i="0" sz="1100" u="none" cap="none" strike="noStrike">
              <a:solidFill>
                <a:schemeClr val="dk1"/>
              </a:solidFill>
              <a:latin typeface="Calibri"/>
              <a:ea typeface="Calibri"/>
              <a:cs typeface="Calibri"/>
              <a:sym typeface="Calibri"/>
            </a:endParaRPr>
          </a:p>
        </p:txBody>
      </p:sp>
      <p:sp>
        <p:nvSpPr>
          <p:cNvPr id="208" name="Google Shape;208;p28"/>
          <p:cNvSpPr/>
          <p:nvPr/>
        </p:nvSpPr>
        <p:spPr>
          <a:xfrm>
            <a:off x="411480" y="261975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Push the commit</a:t>
            </a:r>
            <a:r>
              <a:rPr lang="en" sz="1100">
                <a:solidFill>
                  <a:srgbClr val="1F2937"/>
                </a:solidFill>
                <a:latin typeface="Calibri"/>
                <a:ea typeface="Calibri"/>
                <a:cs typeface="Calibri"/>
                <a:sym typeface="Calibri"/>
              </a:rPr>
              <a:t> (git push)</a:t>
            </a:r>
            <a:r>
              <a:rPr b="0" i="0" lang="en" sz="1100" u="none" cap="none" strike="noStrike">
                <a:solidFill>
                  <a:srgbClr val="1F2937"/>
                </a:solidFill>
                <a:latin typeface="Calibri"/>
                <a:ea typeface="Calibri"/>
                <a:cs typeface="Calibri"/>
                <a:sym typeface="Calibri"/>
              </a:rPr>
              <a:t>, stage the files</a:t>
            </a:r>
            <a:r>
              <a:rPr lang="en" sz="1100">
                <a:solidFill>
                  <a:srgbClr val="1F2937"/>
                </a:solidFill>
                <a:latin typeface="Calibri"/>
                <a:ea typeface="Calibri"/>
                <a:cs typeface="Calibri"/>
                <a:sym typeface="Calibri"/>
              </a:rPr>
              <a:t> (git add)</a:t>
            </a:r>
            <a:r>
              <a:rPr b="0" i="0" lang="en" sz="1100" u="none" cap="none" strike="noStrike">
                <a:solidFill>
                  <a:srgbClr val="1F2937"/>
                </a:solidFill>
                <a:latin typeface="Calibri"/>
                <a:ea typeface="Calibri"/>
                <a:cs typeface="Calibri"/>
                <a:sym typeface="Calibri"/>
              </a:rPr>
              <a:t>, commit the snapshot</a:t>
            </a:r>
            <a:r>
              <a:rPr lang="en" sz="1100">
                <a:solidFill>
                  <a:srgbClr val="1F2937"/>
                </a:solidFill>
                <a:latin typeface="Calibri"/>
                <a:ea typeface="Calibri"/>
                <a:cs typeface="Calibri"/>
                <a:sym typeface="Calibri"/>
              </a:rPr>
              <a:t> (git commit)</a:t>
            </a:r>
            <a:endParaRPr b="0" i="0" sz="1100" u="none" cap="none" strike="noStrike">
              <a:solidFill>
                <a:schemeClr val="dk1"/>
              </a:solidFill>
              <a:latin typeface="Calibri"/>
              <a:ea typeface="Calibri"/>
              <a:cs typeface="Calibri"/>
              <a:sym typeface="Calibri"/>
            </a:endParaRPr>
          </a:p>
        </p:txBody>
      </p:sp>
      <p:sp>
        <p:nvSpPr>
          <p:cNvPr id="209" name="Google Shape;209;p28"/>
          <p:cNvSpPr/>
          <p:nvPr/>
        </p:nvSpPr>
        <p:spPr>
          <a:xfrm>
            <a:off x="411480" y="3038094"/>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Pull from GitHub (git pull), push to GitHub</a:t>
            </a:r>
            <a:r>
              <a:rPr lang="en" sz="1100">
                <a:solidFill>
                  <a:srgbClr val="1F2937"/>
                </a:solidFill>
                <a:latin typeface="Calibri"/>
                <a:ea typeface="Calibri"/>
                <a:cs typeface="Calibri"/>
                <a:sym typeface="Calibri"/>
              </a:rPr>
              <a:t> (git push)</a:t>
            </a:r>
            <a:r>
              <a:rPr b="0" i="0" lang="en" sz="1100" u="none" cap="none" strike="noStrike">
                <a:solidFill>
                  <a:srgbClr val="1F2937"/>
                </a:solidFill>
                <a:latin typeface="Calibri"/>
                <a:ea typeface="Calibri"/>
                <a:cs typeface="Calibri"/>
                <a:sym typeface="Calibri"/>
              </a:rPr>
              <a:t>, then commit locally</a:t>
            </a:r>
            <a:r>
              <a:rPr lang="en" sz="1100">
                <a:solidFill>
                  <a:srgbClr val="1F2937"/>
                </a:solidFill>
                <a:latin typeface="Calibri"/>
                <a:ea typeface="Calibri"/>
                <a:cs typeface="Calibri"/>
                <a:sym typeface="Calibri"/>
              </a:rPr>
              <a:t> (git commit)</a:t>
            </a:r>
            <a:endParaRPr b="0" i="0" sz="1100" u="none" cap="none" strike="noStrike">
              <a:solidFill>
                <a:schemeClr val="dk1"/>
              </a:solidFill>
              <a:latin typeface="Calibri"/>
              <a:ea typeface="Calibri"/>
              <a:cs typeface="Calibri"/>
              <a:sym typeface="Calibri"/>
            </a:endParaRPr>
          </a:p>
        </p:txBody>
      </p:sp>
      <p:sp>
        <p:nvSpPr>
          <p:cNvPr id="210" name="Google Shape;210;p28"/>
          <p:cNvSpPr/>
          <p:nvPr/>
        </p:nvSpPr>
        <p:spPr>
          <a:xfrm>
            <a:off x="411480" y="3502152"/>
            <a:ext cx="8321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Correct answer: 1</a:t>
            </a:r>
            <a:endParaRPr b="0" i="0" sz="1100" u="none" cap="none" strike="noStrike">
              <a:solidFill>
                <a:schemeClr val="dk1"/>
              </a:solidFill>
              <a:latin typeface="Calibri"/>
              <a:ea typeface="Calibri"/>
              <a:cs typeface="Calibri"/>
              <a:sym typeface="Calibri"/>
            </a:endParaRPr>
          </a:p>
        </p:txBody>
      </p:sp>
      <p:sp>
        <p:nvSpPr>
          <p:cNvPr id="211" name="Google Shape;211;p28"/>
          <p:cNvSpPr/>
          <p:nvPr/>
        </p:nvSpPr>
        <p:spPr>
          <a:xfrm>
            <a:off x="411480" y="3730752"/>
            <a:ext cx="83210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You stage changes with git add, save a snapshot with git commit, and then send commits to GitHub with git push.</a:t>
            </a:r>
            <a:endParaRPr b="0" i="0" sz="1100" u="none" cap="none" strike="noStrike">
              <a:solidFill>
                <a:schemeClr val="dk1"/>
              </a:solidFill>
              <a:latin typeface="Calibri"/>
              <a:ea typeface="Calibri"/>
              <a:cs typeface="Calibri"/>
              <a:sym typeface="Calibri"/>
            </a:endParaRPr>
          </a:p>
        </p:txBody>
      </p:sp>
      <p:sp>
        <p:nvSpPr>
          <p:cNvPr id="212" name="Google Shape;212;p28"/>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29"/>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Question 6</a:t>
            </a:r>
            <a:endParaRPr b="0" i="0" sz="2000" u="none" cap="none" strike="noStrike">
              <a:solidFill>
                <a:schemeClr val="dk1"/>
              </a:solidFill>
              <a:latin typeface="Calibri"/>
              <a:ea typeface="Calibri"/>
              <a:cs typeface="Calibri"/>
              <a:sym typeface="Calibri"/>
            </a:endParaRPr>
          </a:p>
        </p:txBody>
      </p:sp>
      <p:sp>
        <p:nvSpPr>
          <p:cNvPr id="219" name="Google Shape;219;p29"/>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You are building a REST API that has endpoints to create and delete courses.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You do not want everyone on the internet to call these endpoints.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What is the first security goal you should solve before talking about roles like admin?</a:t>
            </a:r>
            <a:endParaRPr b="0" i="0" sz="1300" u="none" cap="none" strike="noStrike">
              <a:solidFill>
                <a:schemeClr val="dk1"/>
              </a:solidFill>
              <a:latin typeface="Calibri"/>
              <a:ea typeface="Calibri"/>
              <a:cs typeface="Calibri"/>
              <a:sym typeface="Calibri"/>
            </a:endParaRPr>
          </a:p>
        </p:txBody>
      </p:sp>
      <p:sp>
        <p:nvSpPr>
          <p:cNvPr id="220" name="Google Shape;220;p29"/>
          <p:cNvSpPr/>
          <p:nvPr/>
        </p:nvSpPr>
        <p:spPr>
          <a:xfrm>
            <a:off x="411480" y="1783080"/>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Ensure the request body is valid JSON</a:t>
            </a:r>
            <a:endParaRPr b="0" i="0" sz="1100" u="none" cap="none" strike="noStrike">
              <a:solidFill>
                <a:schemeClr val="dk1"/>
              </a:solidFill>
              <a:latin typeface="Calibri"/>
              <a:ea typeface="Calibri"/>
              <a:cs typeface="Calibri"/>
              <a:sym typeface="Calibri"/>
            </a:endParaRPr>
          </a:p>
        </p:txBody>
      </p:sp>
      <p:sp>
        <p:nvSpPr>
          <p:cNvPr id="221" name="Google Shape;221;p29"/>
          <p:cNvSpPr/>
          <p:nvPr/>
        </p:nvSpPr>
        <p:spPr>
          <a:xfrm>
            <a:off x="411480" y="2201418"/>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Ensure only known users can call the endpoint at all</a:t>
            </a:r>
            <a:endParaRPr b="0" i="0" sz="1100" u="none" cap="none" strike="noStrike">
              <a:solidFill>
                <a:schemeClr val="dk1"/>
              </a:solidFill>
              <a:latin typeface="Calibri"/>
              <a:ea typeface="Calibri"/>
              <a:cs typeface="Calibri"/>
              <a:sym typeface="Calibri"/>
            </a:endParaRPr>
          </a:p>
        </p:txBody>
      </p:sp>
      <p:sp>
        <p:nvSpPr>
          <p:cNvPr id="222" name="Google Shape;222;p29"/>
          <p:cNvSpPr/>
          <p:nvPr/>
        </p:nvSpPr>
        <p:spPr>
          <a:xfrm>
            <a:off x="411480" y="261975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Ensure the database has indexes for faster reads</a:t>
            </a:r>
            <a:endParaRPr b="0" i="0" sz="1100" u="none" cap="none" strike="noStrike">
              <a:solidFill>
                <a:schemeClr val="dk1"/>
              </a:solidFill>
              <a:latin typeface="Calibri"/>
              <a:ea typeface="Calibri"/>
              <a:cs typeface="Calibri"/>
              <a:sym typeface="Calibri"/>
            </a:endParaRPr>
          </a:p>
        </p:txBody>
      </p:sp>
      <p:sp>
        <p:nvSpPr>
          <p:cNvPr id="223" name="Google Shape;223;p29"/>
          <p:cNvSpPr/>
          <p:nvPr/>
        </p:nvSpPr>
        <p:spPr>
          <a:xfrm>
            <a:off x="411480" y="3038094"/>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Ensure the endpoint returns paginated responses</a:t>
            </a:r>
            <a:endParaRPr b="0" i="0" sz="1100" u="none" cap="none" strike="noStrike">
              <a:solidFill>
                <a:schemeClr val="dk1"/>
              </a:solidFill>
              <a:latin typeface="Calibri"/>
              <a:ea typeface="Calibri"/>
              <a:cs typeface="Calibri"/>
              <a:sym typeface="Calibri"/>
            </a:endParaRPr>
          </a:p>
        </p:txBody>
      </p:sp>
      <p:sp>
        <p:nvSpPr>
          <p:cNvPr id="224" name="Google Shape;224;p29"/>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30"/>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Answer 6</a:t>
            </a:r>
            <a:endParaRPr b="0" i="0" sz="2000" u="none" cap="none" strike="noStrike">
              <a:solidFill>
                <a:schemeClr val="dk1"/>
              </a:solidFill>
              <a:latin typeface="Calibri"/>
              <a:ea typeface="Calibri"/>
              <a:cs typeface="Calibri"/>
              <a:sym typeface="Calibri"/>
            </a:endParaRPr>
          </a:p>
        </p:txBody>
      </p:sp>
      <p:sp>
        <p:nvSpPr>
          <p:cNvPr id="231" name="Google Shape;231;p30"/>
          <p:cNvSpPr/>
          <p:nvPr/>
        </p:nvSpPr>
        <p:spPr>
          <a:xfrm>
            <a:off x="411480" y="857250"/>
            <a:ext cx="83210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You are building a REST API that has endpoints to create and delete courses.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You do not want everyone on the internet to call these endpoints.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 sz="1300" u="none" cap="none" strike="noStrike">
                <a:solidFill>
                  <a:srgbClr val="1F2937"/>
                </a:solidFill>
                <a:latin typeface="Calibri"/>
                <a:ea typeface="Calibri"/>
                <a:cs typeface="Calibri"/>
                <a:sym typeface="Calibri"/>
              </a:rPr>
              <a:t>What is the first security goal you should solve before talking about roles like admin?</a:t>
            </a:r>
            <a:endParaRPr b="0" i="0" sz="1300" u="none" cap="none" strike="noStrike">
              <a:solidFill>
                <a:schemeClr val="dk1"/>
              </a:solidFill>
              <a:latin typeface="Calibri"/>
              <a:ea typeface="Calibri"/>
              <a:cs typeface="Calibri"/>
              <a:sym typeface="Calibri"/>
            </a:endParaRPr>
          </a:p>
        </p:txBody>
      </p:sp>
      <p:sp>
        <p:nvSpPr>
          <p:cNvPr id="232" name="Google Shape;232;p30"/>
          <p:cNvSpPr/>
          <p:nvPr/>
        </p:nvSpPr>
        <p:spPr>
          <a:xfrm>
            <a:off x="411480" y="1783080"/>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1) Ensure the request body is valid JSON</a:t>
            </a:r>
            <a:endParaRPr b="0" i="0" sz="1100" u="none" cap="none" strike="noStrike">
              <a:solidFill>
                <a:schemeClr val="dk1"/>
              </a:solidFill>
              <a:latin typeface="Calibri"/>
              <a:ea typeface="Calibri"/>
              <a:cs typeface="Calibri"/>
              <a:sym typeface="Calibri"/>
            </a:endParaRPr>
          </a:p>
        </p:txBody>
      </p:sp>
      <p:sp>
        <p:nvSpPr>
          <p:cNvPr id="233" name="Google Shape;233;p30"/>
          <p:cNvSpPr/>
          <p:nvPr/>
        </p:nvSpPr>
        <p:spPr>
          <a:xfrm>
            <a:off x="411480" y="2201418"/>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2) Ensure only known users can call the endpoint at all</a:t>
            </a:r>
            <a:endParaRPr b="0" i="0" sz="1100" u="none" cap="none" strike="noStrike">
              <a:solidFill>
                <a:schemeClr val="dk1"/>
              </a:solidFill>
              <a:latin typeface="Calibri"/>
              <a:ea typeface="Calibri"/>
              <a:cs typeface="Calibri"/>
              <a:sym typeface="Calibri"/>
            </a:endParaRPr>
          </a:p>
        </p:txBody>
      </p:sp>
      <p:sp>
        <p:nvSpPr>
          <p:cNvPr id="234" name="Google Shape;234;p30"/>
          <p:cNvSpPr/>
          <p:nvPr/>
        </p:nvSpPr>
        <p:spPr>
          <a:xfrm>
            <a:off x="411480" y="261975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3) Ensure the database has indexes for faster reads</a:t>
            </a:r>
            <a:endParaRPr b="0" i="0" sz="1100" u="none" cap="none" strike="noStrike">
              <a:solidFill>
                <a:schemeClr val="dk1"/>
              </a:solidFill>
              <a:latin typeface="Calibri"/>
              <a:ea typeface="Calibri"/>
              <a:cs typeface="Calibri"/>
              <a:sym typeface="Calibri"/>
            </a:endParaRPr>
          </a:p>
        </p:txBody>
      </p:sp>
      <p:sp>
        <p:nvSpPr>
          <p:cNvPr id="235" name="Google Shape;235;p30"/>
          <p:cNvSpPr/>
          <p:nvPr/>
        </p:nvSpPr>
        <p:spPr>
          <a:xfrm>
            <a:off x="411480" y="3038094"/>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4) Ensure the endpoint returns paginated responses</a:t>
            </a:r>
            <a:endParaRPr b="0" i="0" sz="1100" u="none" cap="none" strike="noStrike">
              <a:solidFill>
                <a:schemeClr val="dk1"/>
              </a:solidFill>
              <a:latin typeface="Calibri"/>
              <a:ea typeface="Calibri"/>
              <a:cs typeface="Calibri"/>
              <a:sym typeface="Calibri"/>
            </a:endParaRPr>
          </a:p>
        </p:txBody>
      </p:sp>
      <p:sp>
        <p:nvSpPr>
          <p:cNvPr id="236" name="Google Shape;236;p30"/>
          <p:cNvSpPr/>
          <p:nvPr/>
        </p:nvSpPr>
        <p:spPr>
          <a:xfrm>
            <a:off x="411480" y="3502152"/>
            <a:ext cx="83210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Correct answer: 2</a:t>
            </a:r>
            <a:endParaRPr b="0" i="0" sz="1100" u="none" cap="none" strike="noStrike">
              <a:solidFill>
                <a:schemeClr val="dk1"/>
              </a:solidFill>
              <a:latin typeface="Calibri"/>
              <a:ea typeface="Calibri"/>
              <a:cs typeface="Calibri"/>
              <a:sym typeface="Calibri"/>
            </a:endParaRPr>
          </a:p>
        </p:txBody>
      </p:sp>
      <p:sp>
        <p:nvSpPr>
          <p:cNvPr id="237" name="Google Shape;237;p30"/>
          <p:cNvSpPr/>
          <p:nvPr/>
        </p:nvSpPr>
        <p:spPr>
          <a:xfrm>
            <a:off x="411480" y="3730752"/>
            <a:ext cx="83210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Why: Before deciding what different users can do, you must first ensure the caller is a known user. That is the starting point for protecting any API.</a:t>
            </a:r>
            <a:endParaRPr b="0" i="0" sz="1100" u="none" cap="none" strike="noStrike">
              <a:solidFill>
                <a:schemeClr val="dk1"/>
              </a:solidFill>
              <a:latin typeface="Calibri"/>
              <a:ea typeface="Calibri"/>
              <a:cs typeface="Calibri"/>
              <a:sym typeface="Calibri"/>
            </a:endParaRPr>
          </a:p>
        </p:txBody>
      </p:sp>
      <p:sp>
        <p:nvSpPr>
          <p:cNvPr id="238" name="Google Shape;238;p30"/>
          <p:cNvSpPr/>
          <p:nvPr/>
        </p:nvSpPr>
        <p:spPr>
          <a:xfrm>
            <a:off x="411480" y="476631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B5563"/>
              </a:buClr>
              <a:buSzPts val="1100"/>
              <a:buFont typeface="Calibri"/>
              <a:buNone/>
            </a:pPr>
            <a:r>
              <a:rPr b="0" i="0" lang="en" sz="1100" u="none" cap="none" strike="noStrike">
                <a:solidFill>
                  <a:srgbClr val="4B5563"/>
                </a:solidFill>
                <a:latin typeface="Calibri"/>
                <a:ea typeface="Calibri"/>
                <a:cs typeface="Calibri"/>
                <a:sym typeface="Calibri"/>
              </a:rPr>
              <a:t>Reply format: 1 / 2 / 3 / 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243" name="Shape 243"/>
        <p:cNvGrpSpPr/>
        <p:nvPr/>
      </p:nvGrpSpPr>
      <p:grpSpPr>
        <a:xfrm>
          <a:off x="0" y="0"/>
          <a:ext cx="0" cy="0"/>
          <a:chOff x="0" y="0"/>
          <a:chExt cx="0" cy="0"/>
        </a:xfrm>
      </p:grpSpPr>
      <p:sp>
        <p:nvSpPr>
          <p:cNvPr id="244" name="Google Shape;244;p31"/>
          <p:cNvSpPr/>
          <p:nvPr/>
        </p:nvSpPr>
        <p:spPr>
          <a:xfrm>
            <a:off x="0" y="0"/>
            <a:ext cx="9144000" cy="514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Foundations of security for APIs</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32"/>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Why security exists in an API</a:t>
            </a:r>
            <a:endParaRPr b="0" i="0" sz="2000" u="none" cap="none" strike="noStrike">
              <a:solidFill>
                <a:schemeClr val="dk1"/>
              </a:solidFill>
              <a:latin typeface="Calibri"/>
              <a:ea typeface="Calibri"/>
              <a:cs typeface="Calibri"/>
              <a:sym typeface="Calibri"/>
            </a:endParaRPr>
          </a:p>
        </p:txBody>
      </p:sp>
      <p:sp>
        <p:nvSpPr>
          <p:cNvPr id="251" name="Google Shape;251;p32"/>
          <p:cNvSpPr/>
          <p:nvPr/>
        </p:nvSpPr>
        <p:spPr>
          <a:xfrm>
            <a:off x="411480" y="859536"/>
            <a:ext cx="83210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An API exposes actions over the network, which means the caller is not automatically trusted. If an endpoint is reachable, it can be called by a real user, a script, or an attacker.</a:t>
            </a:r>
            <a:endParaRPr b="0" i="0" sz="1100" u="none" cap="none" strike="noStrike">
              <a:solidFill>
                <a:schemeClr val="dk1"/>
              </a:solidFill>
              <a:latin typeface="Calibri"/>
              <a:ea typeface="Calibri"/>
              <a:cs typeface="Calibri"/>
              <a:sym typeface="Calibri"/>
            </a:endParaRPr>
          </a:p>
        </p:txBody>
      </p:sp>
      <p:sp>
        <p:nvSpPr>
          <p:cNvPr id="252" name="Google Shape;252;p32"/>
          <p:cNvSpPr/>
          <p:nvPr/>
        </p:nvSpPr>
        <p:spPr>
          <a:xfrm>
            <a:off x="411455" y="1935286"/>
            <a:ext cx="8321100" cy="11430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Data exposure can happen when private information is returned to the wrong caller.</a:t>
            </a:r>
            <a:endParaRPr b="0" i="0" sz="1100" u="none" cap="none" strike="noStrike">
              <a:solidFill>
                <a:schemeClr val="dk1"/>
              </a:solidFill>
              <a:latin typeface="Calibri"/>
              <a:ea typeface="Calibri"/>
              <a:cs typeface="Calibri"/>
              <a:sym typeface="Calibri"/>
            </a:endParaRPr>
          </a:p>
          <a:p>
            <a:pPr indent="-298450" lvl="1" marL="914400" rtl="0" algn="l">
              <a:spcBef>
                <a:spcPts val="0"/>
              </a:spcBef>
              <a:spcAft>
                <a:spcPts val="0"/>
              </a:spcAft>
              <a:buClr>
                <a:srgbClr val="1F2937"/>
              </a:buClr>
              <a:buSzPts val="1100"/>
              <a:buFont typeface="Calibri"/>
              <a:buChar char="○"/>
            </a:pPr>
            <a:r>
              <a:rPr lang="en" sz="1100">
                <a:solidFill>
                  <a:srgbClr val="1F2937"/>
                </a:solidFill>
                <a:latin typeface="Calibri"/>
                <a:ea typeface="Calibri"/>
                <a:cs typeface="Calibri"/>
                <a:sym typeface="Calibri"/>
              </a:rPr>
              <a:t>Example: someone fetches student profiles, emails, or enrollment details that were never meant to be public.</a:t>
            </a:r>
            <a:endParaRPr sz="1100">
              <a:solidFill>
                <a:srgbClr val="1F2937"/>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Unauthorized changes can happen when actions are not restricted.</a:t>
            </a:r>
            <a:endParaRPr b="0" i="0" sz="1100" u="none" cap="none" strike="noStrike">
              <a:solidFill>
                <a:srgbClr val="1F2937"/>
              </a:solidFill>
              <a:latin typeface="Calibri"/>
              <a:ea typeface="Calibri"/>
              <a:cs typeface="Calibri"/>
              <a:sym typeface="Calibri"/>
            </a:endParaRPr>
          </a:p>
          <a:p>
            <a:pPr indent="-298450" lvl="1" marL="914400" marR="0" rtl="0" algn="l">
              <a:spcBef>
                <a:spcPts val="0"/>
              </a:spcBef>
              <a:spcAft>
                <a:spcPts val="0"/>
              </a:spcAft>
              <a:buClr>
                <a:srgbClr val="1F2937"/>
              </a:buClr>
              <a:buSzPts val="1100"/>
              <a:buFont typeface="Calibri"/>
              <a:buChar char="○"/>
            </a:pPr>
            <a:r>
              <a:rPr lang="en" sz="1100">
                <a:solidFill>
                  <a:srgbClr val="1F2937"/>
                </a:solidFill>
                <a:latin typeface="Calibri"/>
                <a:ea typeface="Calibri"/>
                <a:cs typeface="Calibri"/>
                <a:sym typeface="Calibri"/>
              </a:rPr>
              <a:t>Example: someone deletes a course or changes an enrollment status.</a:t>
            </a:r>
            <a:endParaRPr sz="1100">
              <a:solidFill>
                <a:srgbClr val="1F2937"/>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Abuse at scale can happen when requests are automated.</a:t>
            </a:r>
            <a:endParaRPr b="0" i="0" sz="1100" u="none" cap="none" strike="noStrike">
              <a:solidFill>
                <a:srgbClr val="1F2937"/>
              </a:solidFill>
              <a:latin typeface="Calibri"/>
              <a:ea typeface="Calibri"/>
              <a:cs typeface="Calibri"/>
              <a:sym typeface="Calibri"/>
            </a:endParaRPr>
          </a:p>
          <a:p>
            <a:pPr indent="-298450" lvl="1" marL="914400" marR="0" rtl="0" algn="l">
              <a:spcBef>
                <a:spcPts val="0"/>
              </a:spcBef>
              <a:spcAft>
                <a:spcPts val="0"/>
              </a:spcAft>
              <a:buClr>
                <a:srgbClr val="1F2937"/>
              </a:buClr>
              <a:buSzPts val="1100"/>
              <a:buFont typeface="Calibri"/>
              <a:buChar char="○"/>
            </a:pPr>
            <a:r>
              <a:rPr lang="en" sz="1100">
                <a:solidFill>
                  <a:srgbClr val="1F2937"/>
                </a:solidFill>
                <a:latin typeface="Calibri"/>
                <a:ea typeface="Calibri"/>
                <a:cs typeface="Calibri"/>
                <a:sym typeface="Calibri"/>
              </a:rPr>
              <a:t>Example: someone scrapes data or attempts credential guessing.</a:t>
            </a:r>
            <a:endParaRPr sz="1100">
              <a:solidFill>
                <a:srgbClr val="1F2937"/>
              </a:solidFill>
              <a:latin typeface="Calibri"/>
              <a:ea typeface="Calibri"/>
              <a:cs typeface="Calibri"/>
              <a:sym typeface="Calibri"/>
            </a:endParaRPr>
          </a:p>
        </p:txBody>
      </p:sp>
      <p:sp>
        <p:nvSpPr>
          <p:cNvPr id="253" name="Google Shape;253;p32"/>
          <p:cNvSpPr/>
          <p:nvPr/>
        </p:nvSpPr>
        <p:spPr>
          <a:xfrm>
            <a:off x="411455" y="1636787"/>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lang="en" sz="1300">
                <a:solidFill>
                  <a:srgbClr val="0B1F3B"/>
                </a:solidFill>
                <a:latin typeface="Calibri"/>
                <a:ea typeface="Calibri"/>
                <a:cs typeface="Calibri"/>
                <a:sym typeface="Calibri"/>
              </a:rPr>
              <a:t>Common risks when an API has no security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33"/>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Core definition: Authentication</a:t>
            </a:r>
            <a:endParaRPr b="0" i="0" sz="2000" u="none" cap="none" strike="noStrike">
              <a:solidFill>
                <a:schemeClr val="dk1"/>
              </a:solidFill>
              <a:latin typeface="Calibri"/>
              <a:ea typeface="Calibri"/>
              <a:cs typeface="Calibri"/>
              <a:sym typeface="Calibri"/>
            </a:endParaRPr>
          </a:p>
        </p:txBody>
      </p:sp>
      <p:sp>
        <p:nvSpPr>
          <p:cNvPr id="260" name="Google Shape;260;p33"/>
          <p:cNvSpPr/>
          <p:nvPr/>
        </p:nvSpPr>
        <p:spPr>
          <a:xfrm>
            <a:off x="411480" y="859536"/>
            <a:ext cx="8321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Authentication answers one simple question. It tells the server who the caller is.</a:t>
            </a:r>
            <a:endParaRPr b="0" i="0" sz="1100" u="none" cap="none" strike="noStrike">
              <a:solidFill>
                <a:schemeClr val="dk1"/>
              </a:solidFill>
              <a:latin typeface="Calibri"/>
              <a:ea typeface="Calibri"/>
              <a:cs typeface="Calibri"/>
              <a:sym typeface="Calibri"/>
            </a:endParaRPr>
          </a:p>
        </p:txBody>
      </p:sp>
      <p:sp>
        <p:nvSpPr>
          <p:cNvPr id="261" name="Google Shape;261;p33"/>
          <p:cNvSpPr/>
          <p:nvPr/>
        </p:nvSpPr>
        <p:spPr>
          <a:xfrm>
            <a:off x="411480" y="1353312"/>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How authentication works in plain terms</a:t>
            </a:r>
            <a:endParaRPr b="0" i="0" sz="1300" u="none" cap="none" strike="noStrike">
              <a:solidFill>
                <a:schemeClr val="dk1"/>
              </a:solidFill>
              <a:latin typeface="Calibri"/>
              <a:ea typeface="Calibri"/>
              <a:cs typeface="Calibri"/>
              <a:sym typeface="Calibri"/>
            </a:endParaRPr>
          </a:p>
        </p:txBody>
      </p:sp>
      <p:sp>
        <p:nvSpPr>
          <p:cNvPr id="262" name="Google Shape;262;p33"/>
          <p:cNvSpPr/>
          <p:nvPr/>
        </p:nvSpPr>
        <p:spPr>
          <a:xfrm>
            <a:off x="411480" y="1627632"/>
            <a:ext cx="8321040" cy="86868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caller presents an identity, such as an email address or a username.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caller presents proof, such as a password.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server verifies the proof and decides whether the identity is valid.</a:t>
            </a:r>
            <a:endParaRPr b="0" i="0" sz="1100" u="none" cap="none" strike="noStrike">
              <a:solidFill>
                <a:schemeClr val="dk1"/>
              </a:solidFill>
              <a:latin typeface="Calibri"/>
              <a:ea typeface="Calibri"/>
              <a:cs typeface="Calibri"/>
              <a:sym typeface="Calibri"/>
            </a:endParaRPr>
          </a:p>
        </p:txBody>
      </p:sp>
      <p:sp>
        <p:nvSpPr>
          <p:cNvPr id="263" name="Google Shape;263;p33"/>
          <p:cNvSpPr/>
          <p:nvPr/>
        </p:nvSpPr>
        <p:spPr>
          <a:xfrm>
            <a:off x="411480" y="256946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 from our system</a:t>
            </a:r>
            <a:endParaRPr b="0" i="0" sz="1300" u="none" cap="none" strike="noStrike">
              <a:solidFill>
                <a:schemeClr val="dk1"/>
              </a:solidFill>
              <a:latin typeface="Calibri"/>
              <a:ea typeface="Calibri"/>
              <a:cs typeface="Calibri"/>
              <a:sym typeface="Calibri"/>
            </a:endParaRPr>
          </a:p>
        </p:txBody>
      </p:sp>
      <p:sp>
        <p:nvSpPr>
          <p:cNvPr id="264" name="Google Shape;264;p33"/>
          <p:cNvSpPr/>
          <p:nvPr/>
        </p:nvSpPr>
        <p:spPr>
          <a:xfrm>
            <a:off x="411480" y="2843784"/>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If a caller (aka the client)  says they are an admin and sends a password, the server must verify those credentials before it treats the caller as an admin user.</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34"/>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Core definition: Authorization</a:t>
            </a:r>
            <a:endParaRPr b="0" i="0" sz="2000" u="none" cap="none" strike="noStrike">
              <a:solidFill>
                <a:schemeClr val="dk1"/>
              </a:solidFill>
              <a:latin typeface="Calibri"/>
              <a:ea typeface="Calibri"/>
              <a:cs typeface="Calibri"/>
              <a:sym typeface="Calibri"/>
            </a:endParaRPr>
          </a:p>
        </p:txBody>
      </p:sp>
      <p:sp>
        <p:nvSpPr>
          <p:cNvPr id="271" name="Google Shape;271;p34"/>
          <p:cNvSpPr/>
          <p:nvPr/>
        </p:nvSpPr>
        <p:spPr>
          <a:xfrm>
            <a:off x="411480" y="859536"/>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Authorization answers a different question. It tells the server what the authenticated caller is allowed to do.</a:t>
            </a:r>
            <a:endParaRPr b="0" i="0" sz="1100" u="none" cap="none" strike="noStrike">
              <a:solidFill>
                <a:schemeClr val="dk1"/>
              </a:solidFill>
              <a:latin typeface="Calibri"/>
              <a:ea typeface="Calibri"/>
              <a:cs typeface="Calibri"/>
              <a:sym typeface="Calibri"/>
            </a:endParaRPr>
          </a:p>
        </p:txBody>
      </p:sp>
      <p:sp>
        <p:nvSpPr>
          <p:cNvPr id="272" name="Google Shape;272;p34"/>
          <p:cNvSpPr/>
          <p:nvPr/>
        </p:nvSpPr>
        <p:spPr>
          <a:xfrm>
            <a:off x="411480" y="147218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How authorization works</a:t>
            </a:r>
            <a:endParaRPr b="0" i="0" sz="1300" u="none" cap="none" strike="noStrike">
              <a:solidFill>
                <a:schemeClr val="dk1"/>
              </a:solidFill>
              <a:latin typeface="Calibri"/>
              <a:ea typeface="Calibri"/>
              <a:cs typeface="Calibri"/>
              <a:sym typeface="Calibri"/>
            </a:endParaRPr>
          </a:p>
        </p:txBody>
      </p:sp>
      <p:sp>
        <p:nvSpPr>
          <p:cNvPr id="273" name="Google Shape;273;p34"/>
          <p:cNvSpPr/>
          <p:nvPr/>
        </p:nvSpPr>
        <p:spPr>
          <a:xfrm>
            <a:off x="411480" y="1746504"/>
            <a:ext cx="8321040" cy="86868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lang="en" sz="1100">
                <a:solidFill>
                  <a:srgbClr val="1F2937"/>
                </a:solidFill>
                <a:latin typeface="Calibri"/>
                <a:ea typeface="Calibri"/>
                <a:cs typeface="Calibri"/>
                <a:sym typeface="Calibri"/>
              </a:rPr>
              <a:t>A request comes in from a caller who is </a:t>
            </a:r>
            <a:r>
              <a:rPr lang="en" sz="1100">
                <a:solidFill>
                  <a:srgbClr val="1F2937"/>
                </a:solidFill>
                <a:latin typeface="Calibri"/>
                <a:ea typeface="Calibri"/>
                <a:cs typeface="Calibri"/>
                <a:sym typeface="Calibri"/>
              </a:rPr>
              <a:t>already </a:t>
            </a:r>
            <a:r>
              <a:rPr lang="en" sz="1100">
                <a:solidFill>
                  <a:srgbClr val="1F2937"/>
                </a:solidFill>
                <a:latin typeface="Calibri"/>
                <a:ea typeface="Calibri"/>
                <a:cs typeface="Calibri"/>
                <a:sym typeface="Calibri"/>
              </a:rPr>
              <a:t>authenticated.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server checks rules that decide which actions that caller is allowed to perform.</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server either allows the action or blocks it.</a:t>
            </a:r>
            <a:endParaRPr b="0" i="0" sz="1100" u="none" cap="none" strike="noStrike">
              <a:solidFill>
                <a:schemeClr val="dk1"/>
              </a:solidFill>
              <a:latin typeface="Calibri"/>
              <a:ea typeface="Calibri"/>
              <a:cs typeface="Calibri"/>
              <a:sym typeface="Calibri"/>
            </a:endParaRPr>
          </a:p>
        </p:txBody>
      </p:sp>
      <p:sp>
        <p:nvSpPr>
          <p:cNvPr id="274" name="Google Shape;274;p34"/>
          <p:cNvSpPr/>
          <p:nvPr/>
        </p:nvSpPr>
        <p:spPr>
          <a:xfrm>
            <a:off x="411480" y="268833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Examples from our system</a:t>
            </a:r>
            <a:endParaRPr b="0" i="0" sz="1300" u="none" cap="none" strike="noStrike">
              <a:solidFill>
                <a:schemeClr val="dk1"/>
              </a:solidFill>
              <a:latin typeface="Calibri"/>
              <a:ea typeface="Calibri"/>
              <a:cs typeface="Calibri"/>
              <a:sym typeface="Calibri"/>
            </a:endParaRPr>
          </a:p>
        </p:txBody>
      </p:sp>
      <p:sp>
        <p:nvSpPr>
          <p:cNvPr id="275" name="Google Shape;275;p34"/>
          <p:cNvSpPr/>
          <p:nvPr/>
        </p:nvSpPr>
        <p:spPr>
          <a:xfrm>
            <a:off x="411480" y="2962656"/>
            <a:ext cx="83210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 student can read their own profile and enroll into a course. </a:t>
            </a:r>
            <a:endParaRPr b="0" i="0" sz="1100" u="none" cap="none" strike="noStrike">
              <a:solidFill>
                <a:srgbClr val="1F2937"/>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 student should not be allowed to delete a course or view all students. </a:t>
            </a:r>
            <a:endParaRPr b="0" i="0" sz="1100" u="none" cap="none" strike="noStrike">
              <a:solidFill>
                <a:srgbClr val="1F2937"/>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An admin can create and delete courses and can view all students.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35"/>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Identity, credentials, roles, and permissions</a:t>
            </a:r>
            <a:endParaRPr b="0" i="0" sz="2000" u="none" cap="none" strike="noStrike">
              <a:solidFill>
                <a:schemeClr val="dk1"/>
              </a:solidFill>
              <a:latin typeface="Calibri"/>
              <a:ea typeface="Calibri"/>
              <a:cs typeface="Calibri"/>
              <a:sym typeface="Calibri"/>
            </a:endParaRPr>
          </a:p>
        </p:txBody>
      </p:sp>
      <p:sp>
        <p:nvSpPr>
          <p:cNvPr id="282" name="Google Shape;282;p35"/>
          <p:cNvSpPr/>
          <p:nvPr/>
        </p:nvSpPr>
        <p:spPr>
          <a:xfrm>
            <a:off x="411480" y="1485561"/>
            <a:ext cx="4069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Identity</a:t>
            </a:r>
            <a:endParaRPr b="0" i="0" sz="1300" u="none" cap="none" strike="noStrike">
              <a:solidFill>
                <a:schemeClr val="dk1"/>
              </a:solidFill>
              <a:latin typeface="Calibri"/>
              <a:ea typeface="Calibri"/>
              <a:cs typeface="Calibri"/>
              <a:sym typeface="Calibri"/>
            </a:endParaRPr>
          </a:p>
        </p:txBody>
      </p:sp>
      <p:sp>
        <p:nvSpPr>
          <p:cNvPr id="283" name="Google Shape;283;p35"/>
          <p:cNvSpPr/>
          <p:nvPr/>
        </p:nvSpPr>
        <p:spPr>
          <a:xfrm>
            <a:off x="411480" y="1759881"/>
            <a:ext cx="4069200" cy="5028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Identity is how we represent a person or system inside our application.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Example: email, userId.</a:t>
            </a:r>
            <a:endParaRPr b="0" i="0" sz="1100" u="none" cap="none" strike="noStrike">
              <a:solidFill>
                <a:schemeClr val="dk1"/>
              </a:solidFill>
              <a:latin typeface="Calibri"/>
              <a:ea typeface="Calibri"/>
              <a:cs typeface="Calibri"/>
              <a:sym typeface="Calibri"/>
            </a:endParaRPr>
          </a:p>
        </p:txBody>
      </p:sp>
      <p:sp>
        <p:nvSpPr>
          <p:cNvPr id="284" name="Google Shape;284;p35"/>
          <p:cNvSpPr/>
          <p:nvPr/>
        </p:nvSpPr>
        <p:spPr>
          <a:xfrm>
            <a:off x="411480" y="2409105"/>
            <a:ext cx="4069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Credentials</a:t>
            </a:r>
            <a:endParaRPr b="0" i="0" sz="1300" u="none" cap="none" strike="noStrike">
              <a:solidFill>
                <a:schemeClr val="dk1"/>
              </a:solidFill>
              <a:latin typeface="Calibri"/>
              <a:ea typeface="Calibri"/>
              <a:cs typeface="Calibri"/>
              <a:sym typeface="Calibri"/>
            </a:endParaRPr>
          </a:p>
        </p:txBody>
      </p:sp>
      <p:sp>
        <p:nvSpPr>
          <p:cNvPr id="285" name="Google Shape;285;p35"/>
          <p:cNvSpPr/>
          <p:nvPr/>
        </p:nvSpPr>
        <p:spPr>
          <a:xfrm>
            <a:off x="411480" y="2683425"/>
            <a:ext cx="4069200" cy="5028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Credentials are the proof that the identity belongs to the caller.</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Example: password, API key.</a:t>
            </a:r>
            <a:endParaRPr b="0" i="0" sz="1100" u="none" cap="none" strike="noStrike">
              <a:solidFill>
                <a:schemeClr val="dk1"/>
              </a:solidFill>
              <a:latin typeface="Calibri"/>
              <a:ea typeface="Calibri"/>
              <a:cs typeface="Calibri"/>
              <a:sym typeface="Calibri"/>
            </a:endParaRPr>
          </a:p>
        </p:txBody>
      </p:sp>
      <p:sp>
        <p:nvSpPr>
          <p:cNvPr id="286" name="Google Shape;286;p35"/>
          <p:cNvSpPr/>
          <p:nvPr/>
        </p:nvSpPr>
        <p:spPr>
          <a:xfrm>
            <a:off x="4754880" y="1485561"/>
            <a:ext cx="39777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Role</a:t>
            </a:r>
            <a:endParaRPr b="0" i="0" sz="1300" u="none" cap="none" strike="noStrike">
              <a:solidFill>
                <a:schemeClr val="dk1"/>
              </a:solidFill>
              <a:latin typeface="Calibri"/>
              <a:ea typeface="Calibri"/>
              <a:cs typeface="Calibri"/>
              <a:sym typeface="Calibri"/>
            </a:endParaRPr>
          </a:p>
        </p:txBody>
      </p:sp>
      <p:sp>
        <p:nvSpPr>
          <p:cNvPr id="287" name="Google Shape;287;p35"/>
          <p:cNvSpPr/>
          <p:nvPr/>
        </p:nvSpPr>
        <p:spPr>
          <a:xfrm>
            <a:off x="4754880" y="1759881"/>
            <a:ext cx="3977700" cy="5943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role is a label that groups a set of permissions into something easy to manage.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Example: STUDENT, ADMIN.</a:t>
            </a:r>
            <a:endParaRPr b="0" i="0" sz="1100" u="none" cap="none" strike="noStrike">
              <a:solidFill>
                <a:schemeClr val="dk1"/>
              </a:solidFill>
              <a:latin typeface="Calibri"/>
              <a:ea typeface="Calibri"/>
              <a:cs typeface="Calibri"/>
              <a:sym typeface="Calibri"/>
            </a:endParaRPr>
          </a:p>
        </p:txBody>
      </p:sp>
      <p:sp>
        <p:nvSpPr>
          <p:cNvPr id="288" name="Google Shape;288;p35"/>
          <p:cNvSpPr/>
          <p:nvPr/>
        </p:nvSpPr>
        <p:spPr>
          <a:xfrm>
            <a:off x="4754880" y="2409105"/>
            <a:ext cx="39777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Permission</a:t>
            </a:r>
            <a:endParaRPr b="0" i="0" sz="1300" u="none" cap="none" strike="noStrike">
              <a:solidFill>
                <a:schemeClr val="dk1"/>
              </a:solidFill>
              <a:latin typeface="Calibri"/>
              <a:ea typeface="Calibri"/>
              <a:cs typeface="Calibri"/>
              <a:sym typeface="Calibri"/>
            </a:endParaRPr>
          </a:p>
        </p:txBody>
      </p:sp>
      <p:sp>
        <p:nvSpPr>
          <p:cNvPr id="289" name="Google Shape;289;p35"/>
          <p:cNvSpPr/>
          <p:nvPr/>
        </p:nvSpPr>
        <p:spPr>
          <a:xfrm>
            <a:off x="4754880" y="2683425"/>
            <a:ext cx="3977700" cy="6858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permission is a specific allowed action in the system.</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Example: course:create, course:delete, student:read:all.</a:t>
            </a:r>
            <a:endParaRPr b="0" i="0" sz="1100" u="none" cap="none" strike="noStrike">
              <a:solidFill>
                <a:schemeClr val="dk1"/>
              </a:solidFill>
              <a:latin typeface="Calibri"/>
              <a:ea typeface="Calibri"/>
              <a:cs typeface="Calibri"/>
              <a:sym typeface="Calibri"/>
            </a:endParaRPr>
          </a:p>
        </p:txBody>
      </p:sp>
      <p:sp>
        <p:nvSpPr>
          <p:cNvPr id="290" name="Google Shape;290;p35"/>
          <p:cNvSpPr/>
          <p:nvPr/>
        </p:nvSpPr>
        <p:spPr>
          <a:xfrm>
            <a:off x="411480" y="859536"/>
            <a:ext cx="83211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These terms show up throughout security. We will keep the meanings consistent.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36"/>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 concrete mapping using our student system</a:t>
            </a:r>
            <a:endParaRPr b="0" i="0" sz="2000" u="none" cap="none" strike="noStrike">
              <a:solidFill>
                <a:schemeClr val="dk1"/>
              </a:solidFill>
              <a:latin typeface="Calibri"/>
              <a:ea typeface="Calibri"/>
              <a:cs typeface="Calibri"/>
              <a:sym typeface="Calibri"/>
            </a:endParaRPr>
          </a:p>
        </p:txBody>
      </p:sp>
      <p:sp>
        <p:nvSpPr>
          <p:cNvPr id="297" name="Google Shape;297;p36"/>
          <p:cNvSpPr/>
          <p:nvPr/>
        </p:nvSpPr>
        <p:spPr>
          <a:xfrm>
            <a:off x="411480" y="859536"/>
            <a:ext cx="8321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We will use a few actions from our project so these concepts feel real.</a:t>
            </a:r>
            <a:endParaRPr b="0" i="0" sz="1100" u="none" cap="none" strike="noStrike">
              <a:solidFill>
                <a:schemeClr val="dk1"/>
              </a:solidFill>
              <a:latin typeface="Calibri"/>
              <a:ea typeface="Calibri"/>
              <a:cs typeface="Calibri"/>
              <a:sym typeface="Calibri"/>
            </a:endParaRPr>
          </a:p>
        </p:txBody>
      </p:sp>
      <p:sp>
        <p:nvSpPr>
          <p:cNvPr id="298" name="Google Shape;298;p36"/>
          <p:cNvSpPr/>
          <p:nvPr/>
        </p:nvSpPr>
        <p:spPr>
          <a:xfrm>
            <a:off x="411480" y="1353312"/>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Actions we expose through APIs</a:t>
            </a:r>
            <a:endParaRPr b="0" i="0" sz="1300" u="none" cap="none" strike="noStrike">
              <a:solidFill>
                <a:schemeClr val="dk1"/>
              </a:solidFill>
              <a:latin typeface="Calibri"/>
              <a:ea typeface="Calibri"/>
              <a:cs typeface="Calibri"/>
              <a:sym typeface="Calibri"/>
            </a:endParaRPr>
          </a:p>
        </p:txBody>
      </p:sp>
      <p:sp>
        <p:nvSpPr>
          <p:cNvPr id="299" name="Google Shape;299;p36"/>
          <p:cNvSpPr/>
          <p:nvPr/>
        </p:nvSpPr>
        <p:spPr>
          <a:xfrm>
            <a:off x="411480" y="1627632"/>
            <a:ext cx="8321040" cy="96012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Read a student profile.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Create a course.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Delete a course.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Create an enrollment.</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Update an enrollment status.</a:t>
            </a:r>
            <a:endParaRPr b="0" i="0" sz="1100" u="none" cap="none" strike="noStrike">
              <a:solidFill>
                <a:schemeClr val="dk1"/>
              </a:solidFill>
              <a:latin typeface="Calibri"/>
              <a:ea typeface="Calibri"/>
              <a:cs typeface="Calibri"/>
              <a:sym typeface="Calibri"/>
            </a:endParaRPr>
          </a:p>
        </p:txBody>
      </p:sp>
      <p:sp>
        <p:nvSpPr>
          <p:cNvPr id="300" name="Google Shape;300;p36"/>
          <p:cNvSpPr/>
          <p:nvPr/>
        </p:nvSpPr>
        <p:spPr>
          <a:xfrm>
            <a:off x="411480" y="266090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A simple rule set we can start with</a:t>
            </a:r>
            <a:endParaRPr b="0" i="0" sz="1300" u="none" cap="none" strike="noStrike">
              <a:solidFill>
                <a:schemeClr val="dk1"/>
              </a:solidFill>
              <a:latin typeface="Calibri"/>
              <a:ea typeface="Calibri"/>
              <a:cs typeface="Calibri"/>
              <a:sym typeface="Calibri"/>
            </a:endParaRPr>
          </a:p>
        </p:txBody>
      </p:sp>
      <p:sp>
        <p:nvSpPr>
          <p:cNvPr id="301" name="Google Shape;301;p36"/>
          <p:cNvSpPr/>
          <p:nvPr/>
        </p:nvSpPr>
        <p:spPr>
          <a:xfrm>
            <a:off x="411480" y="2935224"/>
            <a:ext cx="8321040" cy="86868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student can read their own student profile and create their own enrollments.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student cannot delete courses and cannot read all students.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An admin can create and delete courses and can view all students.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p37"/>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lang="en" sz="2000">
                <a:solidFill>
                  <a:srgbClr val="0B1F3B"/>
                </a:solidFill>
                <a:latin typeface="Calibri"/>
                <a:ea typeface="Calibri"/>
                <a:cs typeface="Calibri"/>
                <a:sym typeface="Calibri"/>
              </a:rPr>
              <a:t>R</a:t>
            </a:r>
            <a:r>
              <a:rPr b="1" i="0" lang="en" sz="2000" u="none" cap="none" strike="noStrike">
                <a:solidFill>
                  <a:srgbClr val="0B1F3B"/>
                </a:solidFill>
                <a:latin typeface="Calibri"/>
                <a:ea typeface="Calibri"/>
                <a:cs typeface="Calibri"/>
                <a:sym typeface="Calibri"/>
              </a:rPr>
              <a:t>emembering the difference</a:t>
            </a:r>
            <a:endParaRPr b="0" i="0" sz="2000" u="none" cap="none" strike="noStrike">
              <a:solidFill>
                <a:schemeClr val="dk1"/>
              </a:solidFill>
              <a:latin typeface="Calibri"/>
              <a:ea typeface="Calibri"/>
              <a:cs typeface="Calibri"/>
              <a:sym typeface="Calibri"/>
            </a:endParaRPr>
          </a:p>
        </p:txBody>
      </p:sp>
      <p:sp>
        <p:nvSpPr>
          <p:cNvPr id="308" name="Google Shape;308;p37"/>
          <p:cNvSpPr/>
          <p:nvPr/>
        </p:nvSpPr>
        <p:spPr>
          <a:xfrm>
            <a:off x="411480" y="859536"/>
            <a:ext cx="83210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Authentication is the step where you prove who you are. Authorization is the step where the system decides what you are allowed to do.</a:t>
            </a:r>
            <a:endParaRPr b="0" i="0" sz="1100" u="none" cap="none" strike="noStrike">
              <a:solidFill>
                <a:schemeClr val="dk1"/>
              </a:solidFill>
              <a:latin typeface="Calibri"/>
              <a:ea typeface="Calibri"/>
              <a:cs typeface="Calibri"/>
              <a:sym typeface="Calibri"/>
            </a:endParaRPr>
          </a:p>
        </p:txBody>
      </p:sp>
      <p:sp>
        <p:nvSpPr>
          <p:cNvPr id="309" name="Google Shape;309;p37"/>
          <p:cNvSpPr/>
          <p:nvPr/>
        </p:nvSpPr>
        <p:spPr>
          <a:xfrm>
            <a:off x="411480" y="1536192"/>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A helpful mental picture</a:t>
            </a:r>
            <a:endParaRPr b="0" i="0" sz="1300" u="none" cap="none" strike="noStrike">
              <a:solidFill>
                <a:schemeClr val="dk1"/>
              </a:solidFill>
              <a:latin typeface="Calibri"/>
              <a:ea typeface="Calibri"/>
              <a:cs typeface="Calibri"/>
              <a:sym typeface="Calibri"/>
            </a:endParaRPr>
          </a:p>
        </p:txBody>
      </p:sp>
      <p:sp>
        <p:nvSpPr>
          <p:cNvPr id="310" name="Google Shape;310;p37"/>
          <p:cNvSpPr/>
          <p:nvPr/>
        </p:nvSpPr>
        <p:spPr>
          <a:xfrm>
            <a:off x="411480" y="1810512"/>
            <a:ext cx="8321040" cy="59436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Authentication is the entry check, where you show an ID and the system recognizes you.</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Authorization is the permission check, where the system decides which actions you can perform after you enter.</a:t>
            </a:r>
            <a:endParaRPr b="0" i="0" sz="1100" u="none" cap="none" strike="noStrike">
              <a:solidFill>
                <a:schemeClr val="dk1"/>
              </a:solidFill>
              <a:latin typeface="Calibri"/>
              <a:ea typeface="Calibri"/>
              <a:cs typeface="Calibri"/>
              <a:sym typeface="Calibri"/>
            </a:endParaRPr>
          </a:p>
        </p:txBody>
      </p:sp>
      <p:pic>
        <p:nvPicPr>
          <p:cNvPr id="311" name="Google Shape;311;p37"/>
          <p:cNvPicPr preferRelativeResize="0"/>
          <p:nvPr/>
        </p:nvPicPr>
        <p:blipFill rotWithShape="1">
          <a:blip r:embed="rId3">
            <a:alphaModFix/>
          </a:blip>
          <a:srcRect b="7450" l="0" r="0" t="0"/>
          <a:stretch/>
        </p:blipFill>
        <p:spPr>
          <a:xfrm>
            <a:off x="2690175" y="2499725"/>
            <a:ext cx="3763650" cy="2252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316" name="Shape 316"/>
        <p:cNvGrpSpPr/>
        <p:nvPr/>
      </p:nvGrpSpPr>
      <p:grpSpPr>
        <a:xfrm>
          <a:off x="0" y="0"/>
          <a:ext cx="0" cy="0"/>
          <a:chOff x="0" y="0"/>
          <a:chExt cx="0" cy="0"/>
        </a:xfrm>
      </p:grpSpPr>
      <p:sp>
        <p:nvSpPr>
          <p:cNvPr id="317" name="Google Shape;317;p38"/>
          <p:cNvSpPr/>
          <p:nvPr/>
        </p:nvSpPr>
        <p:spPr>
          <a:xfrm>
            <a:off x="0" y="0"/>
            <a:ext cx="9144000" cy="514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REST request lifecycle </a:t>
            </a:r>
            <a:r>
              <a:rPr b="1" lang="en" sz="2500">
                <a:solidFill>
                  <a:srgbClr val="FFFFFF"/>
                </a:solidFill>
                <a:latin typeface="Calibri"/>
                <a:ea typeface="Calibri"/>
                <a:cs typeface="Calibri"/>
                <a:sym typeface="Calibri"/>
              </a:rPr>
              <a:t>&amp;</a:t>
            </a:r>
            <a:r>
              <a:rPr b="1" i="0" lang="en" sz="2500" u="none" cap="none" strike="noStrike">
                <a:solidFill>
                  <a:srgbClr val="FFFFFF"/>
                </a:solidFill>
                <a:latin typeface="Calibri"/>
                <a:ea typeface="Calibri"/>
                <a:cs typeface="Calibri"/>
                <a:sym typeface="Calibri"/>
              </a:rPr>
              <a:t> where security fits</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39"/>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lang="en" sz="2000">
                <a:solidFill>
                  <a:srgbClr val="0B1F3B"/>
                </a:solidFill>
                <a:latin typeface="Calibri"/>
                <a:ea typeface="Calibri"/>
                <a:cs typeface="Calibri"/>
                <a:sym typeface="Calibri"/>
              </a:rPr>
              <a:t>Recap: </a:t>
            </a:r>
            <a:r>
              <a:rPr b="1" i="0" lang="en" sz="2000" u="none" cap="none" strike="noStrike">
                <a:solidFill>
                  <a:srgbClr val="0B1F3B"/>
                </a:solidFill>
                <a:latin typeface="Calibri"/>
                <a:ea typeface="Calibri"/>
                <a:cs typeface="Calibri"/>
                <a:sym typeface="Calibri"/>
              </a:rPr>
              <a:t>A REST request lifecycle</a:t>
            </a:r>
            <a:endParaRPr b="0" i="0" sz="2000" u="none" cap="none" strike="noStrike">
              <a:solidFill>
                <a:schemeClr val="dk1"/>
              </a:solidFill>
              <a:latin typeface="Calibri"/>
              <a:ea typeface="Calibri"/>
              <a:cs typeface="Calibri"/>
              <a:sym typeface="Calibri"/>
            </a:endParaRPr>
          </a:p>
        </p:txBody>
      </p:sp>
      <p:sp>
        <p:nvSpPr>
          <p:cNvPr id="324" name="Google Shape;324;p39"/>
          <p:cNvSpPr/>
          <p:nvPr/>
        </p:nvSpPr>
        <p:spPr>
          <a:xfrm>
            <a:off x="411480" y="859536"/>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When a client calls an API endpoint, the request moves through a sequence of steps in the backend.</a:t>
            </a:r>
            <a:endParaRPr b="0" i="0" sz="1100" u="none" cap="none" strike="noStrike">
              <a:solidFill>
                <a:schemeClr val="dk1"/>
              </a:solidFill>
              <a:latin typeface="Calibri"/>
              <a:ea typeface="Calibri"/>
              <a:cs typeface="Calibri"/>
              <a:sym typeface="Calibri"/>
            </a:endParaRPr>
          </a:p>
        </p:txBody>
      </p:sp>
      <p:sp>
        <p:nvSpPr>
          <p:cNvPr id="325" name="Google Shape;325;p39"/>
          <p:cNvSpPr/>
          <p:nvPr/>
        </p:nvSpPr>
        <p:spPr>
          <a:xfrm>
            <a:off x="411480" y="13807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Typical steps in our Spring Boot app</a:t>
            </a:r>
            <a:endParaRPr b="0" i="0" sz="1300" u="none" cap="none" strike="noStrike">
              <a:solidFill>
                <a:schemeClr val="dk1"/>
              </a:solidFill>
              <a:latin typeface="Calibri"/>
              <a:ea typeface="Calibri"/>
              <a:cs typeface="Calibri"/>
              <a:sym typeface="Calibri"/>
            </a:endParaRPr>
          </a:p>
        </p:txBody>
      </p:sp>
      <p:sp>
        <p:nvSpPr>
          <p:cNvPr id="326" name="Google Shape;326;p39"/>
          <p:cNvSpPr/>
          <p:nvPr/>
        </p:nvSpPr>
        <p:spPr>
          <a:xfrm>
            <a:off x="411480" y="1655064"/>
            <a:ext cx="8321040" cy="141732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client sends an HTTP request to the server.</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Spring matches the URL and HTTP method to a controller method.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controller reads inputs such as path variables, query parameters, and request body.</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controller calls the service layer to run business logic.</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service calls the repository layer to read or write data in MongoDB.</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server builds an HTTP response and sends it back to the client.</a:t>
            </a:r>
            <a:endParaRPr b="0" i="0" sz="1100" u="none" cap="none" strike="noStrike">
              <a:solidFill>
                <a:schemeClr val="dk1"/>
              </a:solidFill>
              <a:latin typeface="Calibri"/>
              <a:ea typeface="Calibri"/>
              <a:cs typeface="Calibri"/>
              <a:sym typeface="Calibri"/>
            </a:endParaRPr>
          </a:p>
        </p:txBody>
      </p:sp>
      <p:sp>
        <p:nvSpPr>
          <p:cNvPr id="327" name="Google Shape;327;p39"/>
          <p:cNvSpPr/>
          <p:nvPr/>
        </p:nvSpPr>
        <p:spPr>
          <a:xfrm>
            <a:off x="416193" y="3342906"/>
            <a:ext cx="83211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lang="en" sz="1100">
                <a:solidFill>
                  <a:srgbClr val="1F2937"/>
                </a:solidFill>
                <a:latin typeface="Calibri"/>
                <a:ea typeface="Calibri"/>
                <a:cs typeface="Calibri"/>
                <a:sym typeface="Calibri"/>
              </a:rPr>
              <a:t>Security must happen before business logic, because we should not execute protected actions for unknown callers.</a:t>
            </a:r>
            <a:endParaRPr sz="1100">
              <a:solidFill>
                <a:srgbClr val="1F2937"/>
              </a:solidFill>
              <a:latin typeface="Calibri"/>
              <a:ea typeface="Calibri"/>
              <a:cs typeface="Calibri"/>
              <a:sym typeface="Calibri"/>
            </a:endParaRPr>
          </a:p>
        </p:txBody>
      </p:sp>
      <p:sp>
        <p:nvSpPr>
          <p:cNvPr id="328" name="Google Shape;328;p39"/>
          <p:cNvSpPr/>
          <p:nvPr/>
        </p:nvSpPr>
        <p:spPr>
          <a:xfrm>
            <a:off x="406707" y="3108942"/>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lang="en" sz="1300">
                <a:solidFill>
                  <a:srgbClr val="0B1F3B"/>
                </a:solidFill>
                <a:latin typeface="Calibri"/>
                <a:ea typeface="Calibri"/>
                <a:cs typeface="Calibri"/>
                <a:sym typeface="Calibri"/>
              </a:rPr>
              <a:t>Why this matters for security</a:t>
            </a:r>
            <a:endParaRPr b="0" i="0" sz="1300" u="none" cap="none" strike="noStrike">
              <a:solidFill>
                <a:schemeClr val="dk1"/>
              </a:solidFill>
              <a:latin typeface="Calibri"/>
              <a:ea typeface="Calibri"/>
              <a:cs typeface="Calibri"/>
              <a:sym typeface="Calibri"/>
            </a:endParaRPr>
          </a:p>
        </p:txBody>
      </p:sp>
      <p:sp>
        <p:nvSpPr>
          <p:cNvPr id="329" name="Google Shape;329;p39"/>
          <p:cNvSpPr/>
          <p:nvPr/>
        </p:nvSpPr>
        <p:spPr>
          <a:xfrm>
            <a:off x="416205" y="3807767"/>
            <a:ext cx="8321100" cy="9600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Authentication should happen before the request reaches controllers and services.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Authorization should block requests that are not allowed before any data changes occur.</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consistent security layer prevents accidental gaps across endpoints.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40"/>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Where security fits in the same lifecycle</a:t>
            </a:r>
            <a:endParaRPr b="0" i="0" sz="2000" u="none" cap="none" strike="noStrike">
              <a:solidFill>
                <a:schemeClr val="dk1"/>
              </a:solidFill>
              <a:latin typeface="Calibri"/>
              <a:ea typeface="Calibri"/>
              <a:cs typeface="Calibri"/>
              <a:sym typeface="Calibri"/>
            </a:endParaRPr>
          </a:p>
        </p:txBody>
      </p:sp>
      <p:sp>
        <p:nvSpPr>
          <p:cNvPr id="336" name="Google Shape;336;p40"/>
          <p:cNvSpPr/>
          <p:nvPr/>
        </p:nvSpPr>
        <p:spPr>
          <a:xfrm>
            <a:off x="411480" y="859536"/>
            <a:ext cx="83211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sng" cap="none" strike="noStrike">
                <a:solidFill>
                  <a:schemeClr val="hlink"/>
                </a:solidFill>
                <a:latin typeface="Calibri"/>
                <a:ea typeface="Calibri"/>
                <a:cs typeface="Calibri"/>
                <a:sym typeface="Calibri"/>
                <a:hlinkClick r:id="rId3"/>
              </a:rPr>
              <a:t>Spring Security</a:t>
            </a:r>
            <a:r>
              <a:rPr b="0" i="0" lang="en" sz="1100" u="none" cap="none" strike="noStrike">
                <a:solidFill>
                  <a:srgbClr val="1F2937"/>
                </a:solidFill>
                <a:latin typeface="Calibri"/>
                <a:ea typeface="Calibri"/>
                <a:cs typeface="Calibri"/>
                <a:sym typeface="Calibri"/>
              </a:rPr>
              <a:t> adds security checks early in the request flow, before your controller code runs.</a:t>
            </a:r>
            <a:endParaRPr b="0" i="0" sz="1100" u="none" cap="none" strike="noStrike">
              <a:solidFill>
                <a:schemeClr val="dk1"/>
              </a:solidFill>
              <a:latin typeface="Calibri"/>
              <a:ea typeface="Calibri"/>
              <a:cs typeface="Calibri"/>
              <a:sym typeface="Calibri"/>
            </a:endParaRPr>
          </a:p>
        </p:txBody>
      </p:sp>
      <p:sp>
        <p:nvSpPr>
          <p:cNvPr id="337" name="Google Shape;337;p40"/>
          <p:cNvSpPr/>
          <p:nvPr/>
        </p:nvSpPr>
        <p:spPr>
          <a:xfrm>
            <a:off x="411480" y="13807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changes when Spring Security is enabled</a:t>
            </a:r>
            <a:endParaRPr b="0" i="0" sz="1300" u="none" cap="none" strike="noStrike">
              <a:solidFill>
                <a:schemeClr val="dk1"/>
              </a:solidFill>
              <a:latin typeface="Calibri"/>
              <a:ea typeface="Calibri"/>
              <a:cs typeface="Calibri"/>
              <a:sym typeface="Calibri"/>
            </a:endParaRPr>
          </a:p>
        </p:txBody>
      </p:sp>
      <p:sp>
        <p:nvSpPr>
          <p:cNvPr id="338" name="Google Shape;338;p40"/>
          <p:cNvSpPr/>
          <p:nvPr/>
        </p:nvSpPr>
        <p:spPr>
          <a:xfrm>
            <a:off x="411480" y="1655064"/>
            <a:ext cx="8321040" cy="132588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request first passes through a chain of filters.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filter chain tries to authenticate the caller using the request.</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If authentication succeeds, Spring stores the authenticated user for the rest of the request.</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Spring then checks whether the authenticated user is allowed to access the endpoint.</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Only after these checks pass does the request reach your controller and service code.</a:t>
            </a:r>
            <a:endParaRPr b="0" i="0" sz="1100" u="none" cap="none" strike="noStrike">
              <a:solidFill>
                <a:schemeClr val="dk1"/>
              </a:solidFill>
              <a:latin typeface="Calibri"/>
              <a:ea typeface="Calibri"/>
              <a:cs typeface="Calibri"/>
              <a:sym typeface="Calibri"/>
            </a:endParaRPr>
          </a:p>
        </p:txBody>
      </p:sp>
      <p:sp>
        <p:nvSpPr>
          <p:cNvPr id="339" name="Google Shape;339;p40"/>
          <p:cNvSpPr/>
          <p:nvPr/>
        </p:nvSpPr>
        <p:spPr>
          <a:xfrm>
            <a:off x="411480" y="305409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this prevents</a:t>
            </a:r>
            <a:endParaRPr b="0" i="0" sz="1300" u="none" cap="none" strike="noStrike">
              <a:solidFill>
                <a:schemeClr val="dk1"/>
              </a:solidFill>
              <a:latin typeface="Calibri"/>
              <a:ea typeface="Calibri"/>
              <a:cs typeface="Calibri"/>
              <a:sym typeface="Calibri"/>
            </a:endParaRPr>
          </a:p>
        </p:txBody>
      </p:sp>
      <p:sp>
        <p:nvSpPr>
          <p:cNvPr id="340" name="Google Shape;340;p40"/>
          <p:cNvSpPr/>
          <p:nvPr/>
        </p:nvSpPr>
        <p:spPr>
          <a:xfrm>
            <a:off x="411480" y="3328416"/>
            <a:ext cx="8321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If the request is not authenticated, Spring can stop the request immediately. </a:t>
            </a:r>
            <a:endParaRPr b="0" i="0" sz="1100" u="none" cap="none" strike="noStrike">
              <a:solidFill>
                <a:srgbClr val="1F2937"/>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If the request is authenticated but not allowed, Spring can stop the request before it reaches your business logic.</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p41"/>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Three common outcomes </a:t>
            </a:r>
            <a:r>
              <a:rPr b="1" lang="en" sz="2000">
                <a:solidFill>
                  <a:srgbClr val="0B1F3B"/>
                </a:solidFill>
                <a:latin typeface="Calibri"/>
                <a:ea typeface="Calibri"/>
                <a:cs typeface="Calibri"/>
                <a:sym typeface="Calibri"/>
              </a:rPr>
              <a:t>of validating a request</a:t>
            </a:r>
            <a:endParaRPr b="0" i="0" sz="2000" u="none" cap="none" strike="noStrike">
              <a:solidFill>
                <a:schemeClr val="dk1"/>
              </a:solidFill>
              <a:latin typeface="Calibri"/>
              <a:ea typeface="Calibri"/>
              <a:cs typeface="Calibri"/>
              <a:sym typeface="Calibri"/>
            </a:endParaRPr>
          </a:p>
        </p:txBody>
      </p:sp>
      <p:sp>
        <p:nvSpPr>
          <p:cNvPr id="347" name="Google Shape;347;p41"/>
          <p:cNvSpPr/>
          <p:nvPr/>
        </p:nvSpPr>
        <p:spPr>
          <a:xfrm>
            <a:off x="411480" y="859536"/>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Once security is applied, every protected endpoint usually ends in one of these outcomes.</a:t>
            </a:r>
            <a:endParaRPr b="0" i="0" sz="1100" u="none" cap="none" strike="noStrike">
              <a:solidFill>
                <a:schemeClr val="dk1"/>
              </a:solidFill>
              <a:latin typeface="Calibri"/>
              <a:ea typeface="Calibri"/>
              <a:cs typeface="Calibri"/>
              <a:sym typeface="Calibri"/>
            </a:endParaRPr>
          </a:p>
        </p:txBody>
      </p:sp>
      <p:sp>
        <p:nvSpPr>
          <p:cNvPr id="348" name="Google Shape;348;p41"/>
          <p:cNvSpPr/>
          <p:nvPr/>
        </p:nvSpPr>
        <p:spPr>
          <a:xfrm>
            <a:off x="411480" y="13807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Not authenticated</a:t>
            </a:r>
            <a:endParaRPr b="0" i="0" sz="1300" u="none" cap="none" strike="noStrike">
              <a:solidFill>
                <a:schemeClr val="dk1"/>
              </a:solidFill>
              <a:latin typeface="Calibri"/>
              <a:ea typeface="Calibri"/>
              <a:cs typeface="Calibri"/>
              <a:sym typeface="Calibri"/>
            </a:endParaRPr>
          </a:p>
        </p:txBody>
      </p:sp>
      <p:sp>
        <p:nvSpPr>
          <p:cNvPr id="349" name="Google Shape;349;p41"/>
          <p:cNvSpPr/>
          <p:nvPr/>
        </p:nvSpPr>
        <p:spPr>
          <a:xfrm>
            <a:off x="411480" y="1655064"/>
            <a:ext cx="8321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The request does not provide valid credentials. The server responds with 401.</a:t>
            </a:r>
            <a:endParaRPr b="0" i="0" sz="1100" u="none" cap="none" strike="noStrike">
              <a:solidFill>
                <a:schemeClr val="dk1"/>
              </a:solidFill>
              <a:latin typeface="Calibri"/>
              <a:ea typeface="Calibri"/>
              <a:cs typeface="Calibri"/>
              <a:sym typeface="Calibri"/>
            </a:endParaRPr>
          </a:p>
        </p:txBody>
      </p:sp>
      <p:sp>
        <p:nvSpPr>
          <p:cNvPr id="350" name="Google Shape;350;p41"/>
          <p:cNvSpPr/>
          <p:nvPr/>
        </p:nvSpPr>
        <p:spPr>
          <a:xfrm>
            <a:off x="411480" y="2084832"/>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Authenticated but not allowed</a:t>
            </a:r>
            <a:endParaRPr b="0" i="0" sz="1300" u="none" cap="none" strike="noStrike">
              <a:solidFill>
                <a:schemeClr val="dk1"/>
              </a:solidFill>
              <a:latin typeface="Calibri"/>
              <a:ea typeface="Calibri"/>
              <a:cs typeface="Calibri"/>
              <a:sym typeface="Calibri"/>
            </a:endParaRPr>
          </a:p>
        </p:txBody>
      </p:sp>
      <p:sp>
        <p:nvSpPr>
          <p:cNvPr id="351" name="Google Shape;351;p41"/>
          <p:cNvSpPr/>
          <p:nvPr/>
        </p:nvSpPr>
        <p:spPr>
          <a:xfrm>
            <a:off x="411480" y="2359152"/>
            <a:ext cx="8321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The request has valid credentials, but the user does not have permission. The server responds with 403.</a:t>
            </a:r>
            <a:endParaRPr b="0" i="0" sz="1100" u="none" cap="none" strike="noStrike">
              <a:solidFill>
                <a:schemeClr val="dk1"/>
              </a:solidFill>
              <a:latin typeface="Calibri"/>
              <a:ea typeface="Calibri"/>
              <a:cs typeface="Calibri"/>
              <a:sym typeface="Calibri"/>
            </a:endParaRPr>
          </a:p>
        </p:txBody>
      </p:sp>
      <p:sp>
        <p:nvSpPr>
          <p:cNvPr id="352" name="Google Shape;352;p41"/>
          <p:cNvSpPr/>
          <p:nvPr/>
        </p:nvSpPr>
        <p:spPr>
          <a:xfrm>
            <a:off x="411480" y="278892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Authenticated and allowed</a:t>
            </a:r>
            <a:endParaRPr b="0" i="0" sz="1300" u="none" cap="none" strike="noStrike">
              <a:solidFill>
                <a:schemeClr val="dk1"/>
              </a:solidFill>
              <a:latin typeface="Calibri"/>
              <a:ea typeface="Calibri"/>
              <a:cs typeface="Calibri"/>
              <a:sym typeface="Calibri"/>
            </a:endParaRPr>
          </a:p>
        </p:txBody>
      </p:sp>
      <p:sp>
        <p:nvSpPr>
          <p:cNvPr id="353" name="Google Shape;353;p41"/>
          <p:cNvSpPr/>
          <p:nvPr/>
        </p:nvSpPr>
        <p:spPr>
          <a:xfrm>
            <a:off x="411480" y="3063240"/>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The request has valid credentials and the correct permission. The request reaches the controller and the normal business flow runs.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p42"/>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Mapping outcomes to our student system</a:t>
            </a:r>
            <a:endParaRPr b="0" i="0" sz="2000" u="none" cap="none" strike="noStrike">
              <a:solidFill>
                <a:schemeClr val="dk1"/>
              </a:solidFill>
              <a:latin typeface="Calibri"/>
              <a:ea typeface="Calibri"/>
              <a:cs typeface="Calibri"/>
              <a:sym typeface="Calibri"/>
            </a:endParaRPr>
          </a:p>
        </p:txBody>
      </p:sp>
      <p:sp>
        <p:nvSpPr>
          <p:cNvPr id="360" name="Google Shape;360;p42"/>
          <p:cNvSpPr/>
          <p:nvPr/>
        </p:nvSpPr>
        <p:spPr>
          <a:xfrm>
            <a:off x="411480" y="859536"/>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We will use examples from our endpoints so the status codes feel intuitive.</a:t>
            </a:r>
            <a:endParaRPr b="0" i="0" sz="1100" u="none" cap="none" strike="noStrike">
              <a:solidFill>
                <a:schemeClr val="dk1"/>
              </a:solidFill>
              <a:latin typeface="Calibri"/>
              <a:ea typeface="Calibri"/>
              <a:cs typeface="Calibri"/>
              <a:sym typeface="Calibri"/>
            </a:endParaRPr>
          </a:p>
        </p:txBody>
      </p:sp>
      <p:sp>
        <p:nvSpPr>
          <p:cNvPr id="361" name="Google Shape;361;p42"/>
          <p:cNvSpPr/>
          <p:nvPr/>
        </p:nvSpPr>
        <p:spPr>
          <a:xfrm>
            <a:off x="411480" y="13807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 1</a:t>
            </a:r>
            <a:endParaRPr b="0" i="0" sz="1300" u="none" cap="none" strike="noStrike">
              <a:solidFill>
                <a:schemeClr val="dk1"/>
              </a:solidFill>
              <a:latin typeface="Calibri"/>
              <a:ea typeface="Calibri"/>
              <a:cs typeface="Calibri"/>
              <a:sym typeface="Calibri"/>
            </a:endParaRPr>
          </a:p>
        </p:txBody>
      </p:sp>
      <p:sp>
        <p:nvSpPr>
          <p:cNvPr id="362" name="Google Shape;362;p42"/>
          <p:cNvSpPr/>
          <p:nvPr/>
        </p:nvSpPr>
        <p:spPr>
          <a:xfrm>
            <a:off x="411480" y="1655064"/>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 user calls DELETE /courses/{id} without credentials. This should return 401 because the caller is not authenticated.</a:t>
            </a:r>
            <a:endParaRPr b="0" i="0" sz="1100" u="none" cap="none" strike="noStrike">
              <a:solidFill>
                <a:schemeClr val="dk1"/>
              </a:solidFill>
              <a:latin typeface="Calibri"/>
              <a:ea typeface="Calibri"/>
              <a:cs typeface="Calibri"/>
              <a:sym typeface="Calibri"/>
            </a:endParaRPr>
          </a:p>
        </p:txBody>
      </p:sp>
      <p:sp>
        <p:nvSpPr>
          <p:cNvPr id="363" name="Google Shape;363;p42"/>
          <p:cNvSpPr/>
          <p:nvPr/>
        </p:nvSpPr>
        <p:spPr>
          <a:xfrm>
            <a:off x="411480" y="2176272"/>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 2</a:t>
            </a:r>
            <a:endParaRPr b="0" i="0" sz="1300" u="none" cap="none" strike="noStrike">
              <a:solidFill>
                <a:schemeClr val="dk1"/>
              </a:solidFill>
              <a:latin typeface="Calibri"/>
              <a:ea typeface="Calibri"/>
              <a:cs typeface="Calibri"/>
              <a:sym typeface="Calibri"/>
            </a:endParaRPr>
          </a:p>
        </p:txBody>
      </p:sp>
      <p:sp>
        <p:nvSpPr>
          <p:cNvPr id="364" name="Google Shape;364;p42"/>
          <p:cNvSpPr/>
          <p:nvPr/>
        </p:nvSpPr>
        <p:spPr>
          <a:xfrm>
            <a:off x="411480" y="2450592"/>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 student calls DELETE /courses/{id} with valid credentials. This should return 403 because the student is authenticated but not allowed to delete courses.</a:t>
            </a:r>
            <a:endParaRPr b="0" i="0" sz="1100" u="none" cap="none" strike="noStrike">
              <a:solidFill>
                <a:schemeClr val="dk1"/>
              </a:solidFill>
              <a:latin typeface="Calibri"/>
              <a:ea typeface="Calibri"/>
              <a:cs typeface="Calibri"/>
              <a:sym typeface="Calibri"/>
            </a:endParaRPr>
          </a:p>
        </p:txBody>
      </p:sp>
      <p:sp>
        <p:nvSpPr>
          <p:cNvPr id="365" name="Google Shape;365;p42"/>
          <p:cNvSpPr/>
          <p:nvPr/>
        </p:nvSpPr>
        <p:spPr>
          <a:xfrm>
            <a:off x="411480" y="306324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 3</a:t>
            </a:r>
            <a:endParaRPr b="0" i="0" sz="1300" u="none" cap="none" strike="noStrike">
              <a:solidFill>
                <a:schemeClr val="dk1"/>
              </a:solidFill>
              <a:latin typeface="Calibri"/>
              <a:ea typeface="Calibri"/>
              <a:cs typeface="Calibri"/>
              <a:sym typeface="Calibri"/>
            </a:endParaRPr>
          </a:p>
        </p:txBody>
      </p:sp>
      <p:sp>
        <p:nvSpPr>
          <p:cNvPr id="366" name="Google Shape;366;p42"/>
          <p:cNvSpPr/>
          <p:nvPr/>
        </p:nvSpPr>
        <p:spPr>
          <a:xfrm>
            <a:off x="411480" y="333756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An admin calls DELETE /courses/{id} with valid credentials. This should succeed because the admin is authenticated and allowed.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371" name="Shape 371"/>
        <p:cNvGrpSpPr/>
        <p:nvPr/>
      </p:nvGrpSpPr>
      <p:grpSpPr>
        <a:xfrm>
          <a:off x="0" y="0"/>
          <a:ext cx="0" cy="0"/>
          <a:chOff x="0" y="0"/>
          <a:chExt cx="0" cy="0"/>
        </a:xfrm>
      </p:grpSpPr>
      <p:sp>
        <p:nvSpPr>
          <p:cNvPr id="372" name="Google Shape;372;p43"/>
          <p:cNvSpPr/>
          <p:nvPr/>
        </p:nvSpPr>
        <p:spPr>
          <a:xfrm>
            <a:off x="0" y="0"/>
            <a:ext cx="9144000" cy="514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Introduction to Spring Security</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p44"/>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Why Spring Security exists</a:t>
            </a:r>
            <a:endParaRPr b="0" i="0" sz="2000" u="none" cap="none" strike="noStrike">
              <a:solidFill>
                <a:schemeClr val="dk1"/>
              </a:solidFill>
              <a:latin typeface="Calibri"/>
              <a:ea typeface="Calibri"/>
              <a:cs typeface="Calibri"/>
              <a:sym typeface="Calibri"/>
            </a:endParaRPr>
          </a:p>
        </p:txBody>
      </p:sp>
      <p:sp>
        <p:nvSpPr>
          <p:cNvPr id="379" name="Google Shape;379;p44"/>
          <p:cNvSpPr/>
          <p:nvPr/>
        </p:nvSpPr>
        <p:spPr>
          <a:xfrm>
            <a:off x="411480" y="859536"/>
            <a:ext cx="83210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In a real backend, you do not want every API method to handle security checks on its own. </a:t>
            </a:r>
            <a:endParaRPr b="0" i="0" sz="1100" u="none" cap="none" strike="noStrike">
              <a:solidFill>
                <a:srgbClr val="1F2937"/>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If you do that, you end up repeating the same work across many endpoints. </a:t>
            </a:r>
            <a:r>
              <a:rPr lang="en" sz="1100">
                <a:solidFill>
                  <a:srgbClr val="1F2937"/>
                </a:solidFill>
                <a:latin typeface="Calibri"/>
                <a:ea typeface="Calibri"/>
                <a:cs typeface="Calibri"/>
                <a:sym typeface="Calibri"/>
              </a:rPr>
              <a:t>Recall: this is the same reason GlobalExceptionHandler exists.</a:t>
            </a:r>
            <a:endParaRPr b="0" i="0" sz="1100" u="none" cap="none" strike="noStrike">
              <a:solidFill>
                <a:schemeClr val="dk1"/>
              </a:solidFill>
              <a:latin typeface="Calibri"/>
              <a:ea typeface="Calibri"/>
              <a:cs typeface="Calibri"/>
              <a:sym typeface="Calibri"/>
            </a:endParaRPr>
          </a:p>
        </p:txBody>
      </p:sp>
      <p:sp>
        <p:nvSpPr>
          <p:cNvPr id="380" name="Google Shape;380;p44"/>
          <p:cNvSpPr/>
          <p:nvPr/>
        </p:nvSpPr>
        <p:spPr>
          <a:xfrm>
            <a:off x="411480" y="165506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goes wrong without a security layer</a:t>
            </a:r>
            <a:endParaRPr b="0" i="0" sz="1300" u="none" cap="none" strike="noStrike">
              <a:solidFill>
                <a:schemeClr val="dk1"/>
              </a:solidFill>
              <a:latin typeface="Calibri"/>
              <a:ea typeface="Calibri"/>
              <a:cs typeface="Calibri"/>
              <a:sym typeface="Calibri"/>
            </a:endParaRPr>
          </a:p>
        </p:txBody>
      </p:sp>
      <p:sp>
        <p:nvSpPr>
          <p:cNvPr id="381" name="Google Shape;381;p44"/>
          <p:cNvSpPr/>
          <p:nvPr/>
        </p:nvSpPr>
        <p:spPr>
          <a:xfrm>
            <a:off x="411480" y="1929384"/>
            <a:ext cx="8321040" cy="100584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Every endpoint has to check who the caller is before doing anything important.</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Every endpoint has to decide whether the caller is allowed to do that action.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Some endpoints will forget to check, and those become security holes.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code becomes messy because security logic mixes with business logic.</a:t>
            </a:r>
            <a:endParaRPr b="0" i="0" sz="1100" u="none" cap="none" strike="noStrike">
              <a:solidFill>
                <a:schemeClr val="dk1"/>
              </a:solidFill>
              <a:latin typeface="Calibri"/>
              <a:ea typeface="Calibri"/>
              <a:cs typeface="Calibri"/>
              <a:sym typeface="Calibri"/>
            </a:endParaRPr>
          </a:p>
        </p:txBody>
      </p:sp>
      <p:sp>
        <p:nvSpPr>
          <p:cNvPr id="382" name="Google Shape;382;p44"/>
          <p:cNvSpPr/>
          <p:nvPr/>
        </p:nvSpPr>
        <p:spPr>
          <a:xfrm>
            <a:off x="411480" y="300837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Spring Security gives you</a:t>
            </a:r>
            <a:endParaRPr b="0" i="0" sz="1300" u="none" cap="none" strike="noStrike">
              <a:solidFill>
                <a:schemeClr val="dk1"/>
              </a:solidFill>
              <a:latin typeface="Calibri"/>
              <a:ea typeface="Calibri"/>
              <a:cs typeface="Calibri"/>
              <a:sym typeface="Calibri"/>
            </a:endParaRPr>
          </a:p>
        </p:txBody>
      </p:sp>
      <p:sp>
        <p:nvSpPr>
          <p:cNvPr id="383" name="Google Shape;383;p44"/>
          <p:cNvSpPr/>
          <p:nvPr/>
        </p:nvSpPr>
        <p:spPr>
          <a:xfrm>
            <a:off x="411480" y="3282696"/>
            <a:ext cx="8321040" cy="96012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One central place to define which endpoints are protected.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consistent way to verify the caller for each request.</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 consistent way to allow or block actions based on roles.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Standard responses when access is denied.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 name="Shape 388"/>
        <p:cNvGrpSpPr/>
        <p:nvPr/>
      </p:nvGrpSpPr>
      <p:grpSpPr>
        <a:xfrm>
          <a:off x="0" y="0"/>
          <a:ext cx="0" cy="0"/>
          <a:chOff x="0" y="0"/>
          <a:chExt cx="0" cy="0"/>
        </a:xfrm>
      </p:grpSpPr>
      <p:sp>
        <p:nvSpPr>
          <p:cNvPr id="389" name="Google Shape;389;p45"/>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The core idea: a </a:t>
            </a:r>
            <a:r>
              <a:rPr b="1" i="1" lang="en" sz="2000" u="none" cap="none" strike="noStrike">
                <a:solidFill>
                  <a:srgbClr val="0B1F3B"/>
                </a:solidFill>
                <a:latin typeface="Calibri"/>
                <a:ea typeface="Calibri"/>
                <a:cs typeface="Calibri"/>
                <a:sym typeface="Calibri"/>
              </a:rPr>
              <a:t>filter chain</a:t>
            </a:r>
            <a:r>
              <a:rPr b="1" i="0" lang="en" sz="2000" u="none" cap="none" strike="noStrike">
                <a:solidFill>
                  <a:srgbClr val="0B1F3B"/>
                </a:solidFill>
                <a:latin typeface="Calibri"/>
                <a:ea typeface="Calibri"/>
                <a:cs typeface="Calibri"/>
                <a:sym typeface="Calibri"/>
              </a:rPr>
              <a:t> in front of controllers</a:t>
            </a:r>
            <a:endParaRPr b="0" i="0" sz="2000" u="none" cap="none" strike="noStrike">
              <a:solidFill>
                <a:schemeClr val="dk1"/>
              </a:solidFill>
              <a:latin typeface="Calibri"/>
              <a:ea typeface="Calibri"/>
              <a:cs typeface="Calibri"/>
              <a:sym typeface="Calibri"/>
            </a:endParaRPr>
          </a:p>
        </p:txBody>
      </p:sp>
      <p:sp>
        <p:nvSpPr>
          <p:cNvPr id="390" name="Google Shape;390;p45"/>
          <p:cNvSpPr/>
          <p:nvPr/>
        </p:nvSpPr>
        <p:spPr>
          <a:xfrm>
            <a:off x="411480" y="859536"/>
            <a:ext cx="83210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lang="en" sz="1100">
                <a:solidFill>
                  <a:srgbClr val="1F2937"/>
                </a:solidFill>
                <a:latin typeface="Calibri"/>
                <a:ea typeface="Calibri"/>
                <a:cs typeface="Calibri"/>
                <a:sym typeface="Calibri"/>
              </a:rPr>
              <a:t>Spring Security runs requests through a chain of security filters before they reach your controllers. </a:t>
            </a:r>
            <a:endParaRPr sz="1100">
              <a:solidFill>
                <a:srgbClr val="1F2937"/>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alibri"/>
              <a:buNone/>
            </a:pPr>
            <a:r>
              <a:rPr lang="en" sz="1100">
                <a:solidFill>
                  <a:srgbClr val="1F2937"/>
                </a:solidFill>
                <a:latin typeface="Calibri"/>
                <a:ea typeface="Calibri"/>
                <a:cs typeface="Calibri"/>
                <a:sym typeface="Calibri"/>
              </a:rPr>
              <a:t>Every request is checked before your controller method runs.</a:t>
            </a:r>
            <a:endParaRPr b="0" i="0" sz="1100" u="none" cap="none" strike="noStrike">
              <a:solidFill>
                <a:schemeClr val="dk1"/>
              </a:solidFill>
              <a:latin typeface="Calibri"/>
              <a:ea typeface="Calibri"/>
              <a:cs typeface="Calibri"/>
              <a:sym typeface="Calibri"/>
            </a:endParaRPr>
          </a:p>
        </p:txBody>
      </p:sp>
      <p:sp>
        <p:nvSpPr>
          <p:cNvPr id="391" name="Google Shape;391;p45"/>
          <p:cNvSpPr/>
          <p:nvPr/>
        </p:nvSpPr>
        <p:spPr>
          <a:xfrm>
            <a:off x="411480" y="1536192"/>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a filter can do</a:t>
            </a:r>
            <a:endParaRPr b="0" i="0" sz="1300" u="none" cap="none" strike="noStrike">
              <a:solidFill>
                <a:schemeClr val="dk1"/>
              </a:solidFill>
              <a:latin typeface="Calibri"/>
              <a:ea typeface="Calibri"/>
              <a:cs typeface="Calibri"/>
              <a:sym typeface="Calibri"/>
            </a:endParaRPr>
          </a:p>
        </p:txBody>
      </p:sp>
      <p:sp>
        <p:nvSpPr>
          <p:cNvPr id="392" name="Google Shape;392;p45"/>
          <p:cNvSpPr/>
          <p:nvPr/>
        </p:nvSpPr>
        <p:spPr>
          <a:xfrm>
            <a:off x="411480" y="1810512"/>
            <a:ext cx="8321040" cy="96012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Read the request, especially headers that carry credentials.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Verify whether the caller is a known user.</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Stop the request early and return an error response.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Attach the authenticated user to the request so the rest of the app can use it.</a:t>
            </a:r>
            <a:endParaRPr b="0" i="0" sz="1100" u="none" cap="none" strike="noStrike">
              <a:solidFill>
                <a:schemeClr val="dk1"/>
              </a:solidFill>
              <a:latin typeface="Calibri"/>
              <a:ea typeface="Calibri"/>
              <a:cs typeface="Calibri"/>
              <a:sym typeface="Calibri"/>
            </a:endParaRPr>
          </a:p>
        </p:txBody>
      </p:sp>
      <p:sp>
        <p:nvSpPr>
          <p:cNvPr id="393" name="Google Shape;393;p45"/>
          <p:cNvSpPr/>
          <p:nvPr/>
        </p:nvSpPr>
        <p:spPr>
          <a:xfrm>
            <a:off x="411480" y="284378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Why this is useful</a:t>
            </a:r>
            <a:endParaRPr b="0" i="0" sz="1300" u="none" cap="none" strike="noStrike">
              <a:solidFill>
                <a:schemeClr val="dk1"/>
              </a:solidFill>
              <a:latin typeface="Calibri"/>
              <a:ea typeface="Calibri"/>
              <a:cs typeface="Calibri"/>
              <a:sym typeface="Calibri"/>
            </a:endParaRPr>
          </a:p>
        </p:txBody>
      </p:sp>
      <p:sp>
        <p:nvSpPr>
          <p:cNvPr id="394" name="Google Shape;394;p45"/>
          <p:cNvSpPr/>
          <p:nvPr/>
        </p:nvSpPr>
        <p:spPr>
          <a:xfrm>
            <a:off x="411480" y="3118104"/>
            <a:ext cx="8321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Security checks happen before business logic runs, so protected operations are blocked early.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46"/>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SecurityFilterChain and what it controls</a:t>
            </a:r>
            <a:endParaRPr b="0" i="0" sz="2000" u="none" cap="none" strike="noStrike">
              <a:solidFill>
                <a:schemeClr val="dk1"/>
              </a:solidFill>
              <a:latin typeface="Calibri"/>
              <a:ea typeface="Calibri"/>
              <a:cs typeface="Calibri"/>
              <a:sym typeface="Calibri"/>
            </a:endParaRPr>
          </a:p>
        </p:txBody>
      </p:sp>
      <p:sp>
        <p:nvSpPr>
          <p:cNvPr id="401" name="Google Shape;401;p46"/>
          <p:cNvSpPr/>
          <p:nvPr/>
        </p:nvSpPr>
        <p:spPr>
          <a:xfrm>
            <a:off x="411480" y="859536"/>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In Spring Security, we define the rules for our API in a </a:t>
            </a:r>
            <a:r>
              <a:rPr b="0" i="0" lang="en" sz="1100" u="sng" cap="none" strike="noStrike">
                <a:solidFill>
                  <a:schemeClr val="hlink"/>
                </a:solidFill>
                <a:latin typeface="Calibri"/>
                <a:ea typeface="Calibri"/>
                <a:cs typeface="Calibri"/>
                <a:sym typeface="Calibri"/>
                <a:hlinkClick r:id="rId3"/>
              </a:rPr>
              <a:t>SecurityFilterChain</a:t>
            </a:r>
            <a:r>
              <a:rPr b="0" i="0" lang="en" sz="1100" u="none" cap="none" strike="noStrike">
                <a:solidFill>
                  <a:srgbClr val="1F2937"/>
                </a:solidFill>
                <a:latin typeface="Calibri"/>
                <a:ea typeface="Calibri"/>
                <a:cs typeface="Calibri"/>
                <a:sym typeface="Calibri"/>
              </a:rPr>
              <a:t> configuration. This configuration is the security policy for the entire application.</a:t>
            </a:r>
            <a:endParaRPr b="0" i="0" sz="1100" u="none" cap="none" strike="noStrike">
              <a:solidFill>
                <a:schemeClr val="dk1"/>
              </a:solidFill>
              <a:latin typeface="Calibri"/>
              <a:ea typeface="Calibri"/>
              <a:cs typeface="Calibri"/>
              <a:sym typeface="Calibri"/>
            </a:endParaRPr>
          </a:p>
        </p:txBody>
      </p:sp>
      <p:sp>
        <p:nvSpPr>
          <p:cNvPr id="402" name="Google Shape;402;p46"/>
          <p:cNvSpPr/>
          <p:nvPr/>
        </p:nvSpPr>
        <p:spPr>
          <a:xfrm>
            <a:off x="411480" y="16093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we define in the policy</a:t>
            </a:r>
            <a:endParaRPr b="0" i="0" sz="1300" u="none" cap="none" strike="noStrike">
              <a:solidFill>
                <a:schemeClr val="dk1"/>
              </a:solidFill>
              <a:latin typeface="Calibri"/>
              <a:ea typeface="Calibri"/>
              <a:cs typeface="Calibri"/>
              <a:sym typeface="Calibri"/>
            </a:endParaRPr>
          </a:p>
        </p:txBody>
      </p:sp>
      <p:sp>
        <p:nvSpPr>
          <p:cNvPr id="403" name="Google Shape;403;p46"/>
          <p:cNvSpPr/>
          <p:nvPr/>
        </p:nvSpPr>
        <p:spPr>
          <a:xfrm>
            <a:off x="411480" y="1883664"/>
            <a:ext cx="8321040" cy="96012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Which endpoints are public.</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Which endpoints require a logged-in user.</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Which endpoints require a specific role, such as ADMIN.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Which authentication method we want to use, such as Basic authentication.</a:t>
            </a:r>
            <a:endParaRPr b="0" i="0" sz="1100" u="none" cap="none" strike="noStrike">
              <a:solidFill>
                <a:schemeClr val="dk1"/>
              </a:solidFill>
              <a:latin typeface="Calibri"/>
              <a:ea typeface="Calibri"/>
              <a:cs typeface="Calibri"/>
              <a:sym typeface="Calibri"/>
            </a:endParaRPr>
          </a:p>
        </p:txBody>
      </p:sp>
      <p:sp>
        <p:nvSpPr>
          <p:cNvPr id="404" name="Google Shape;404;p46"/>
          <p:cNvSpPr/>
          <p:nvPr/>
        </p:nvSpPr>
        <p:spPr>
          <a:xfrm>
            <a:off x="411480" y="291693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Why this matters</a:t>
            </a:r>
            <a:endParaRPr b="0" i="0" sz="1300" u="none" cap="none" strike="noStrike">
              <a:solidFill>
                <a:schemeClr val="dk1"/>
              </a:solidFill>
              <a:latin typeface="Calibri"/>
              <a:ea typeface="Calibri"/>
              <a:cs typeface="Calibri"/>
              <a:sym typeface="Calibri"/>
            </a:endParaRPr>
          </a:p>
        </p:txBody>
      </p:sp>
      <p:sp>
        <p:nvSpPr>
          <p:cNvPr id="405" name="Google Shape;405;p46"/>
          <p:cNvSpPr/>
          <p:nvPr/>
        </p:nvSpPr>
        <p:spPr>
          <a:xfrm>
            <a:off x="411480" y="3191256"/>
            <a:ext cx="8321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We write the rules once, and Spring Security applies them consistently to all requests.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47"/>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What happens after a request is authenticated?</a:t>
            </a:r>
            <a:endParaRPr b="0" i="0" sz="2000" u="none" cap="none" strike="noStrike">
              <a:solidFill>
                <a:schemeClr val="dk1"/>
              </a:solidFill>
              <a:latin typeface="Calibri"/>
              <a:ea typeface="Calibri"/>
              <a:cs typeface="Calibri"/>
              <a:sym typeface="Calibri"/>
            </a:endParaRPr>
          </a:p>
        </p:txBody>
      </p:sp>
      <p:sp>
        <p:nvSpPr>
          <p:cNvPr id="412" name="Google Shape;412;p47"/>
          <p:cNvSpPr/>
          <p:nvPr/>
        </p:nvSpPr>
        <p:spPr>
          <a:xfrm>
            <a:off x="411480" y="859536"/>
            <a:ext cx="83210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When Spring Security verifies the credentials in a request, it marks the request as authenticated. It also stores information about the user for the rest of the request.</a:t>
            </a:r>
            <a:endParaRPr b="0" i="0" sz="1100" u="none" cap="none" strike="noStrike">
              <a:solidFill>
                <a:schemeClr val="dk1"/>
              </a:solidFill>
              <a:latin typeface="Calibri"/>
              <a:ea typeface="Calibri"/>
              <a:cs typeface="Calibri"/>
              <a:sym typeface="Calibri"/>
            </a:endParaRPr>
          </a:p>
        </p:txBody>
      </p:sp>
      <p:sp>
        <p:nvSpPr>
          <p:cNvPr id="413" name="Google Shape;413;p47"/>
          <p:cNvSpPr/>
          <p:nvPr/>
        </p:nvSpPr>
        <p:spPr>
          <a:xfrm>
            <a:off x="411480" y="1627632"/>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gets stored</a:t>
            </a:r>
            <a:endParaRPr b="0" i="0" sz="1300" u="none" cap="none" strike="noStrike">
              <a:solidFill>
                <a:schemeClr val="dk1"/>
              </a:solidFill>
              <a:latin typeface="Calibri"/>
              <a:ea typeface="Calibri"/>
              <a:cs typeface="Calibri"/>
              <a:sym typeface="Calibri"/>
            </a:endParaRPr>
          </a:p>
        </p:txBody>
      </p:sp>
      <p:sp>
        <p:nvSpPr>
          <p:cNvPr id="414" name="Google Shape;414;p47"/>
          <p:cNvSpPr/>
          <p:nvPr/>
        </p:nvSpPr>
        <p:spPr>
          <a:xfrm>
            <a:off x="411480" y="1901952"/>
            <a:ext cx="8321040" cy="82296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user identity, such as email or username.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roles for that user.</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An Authentication object that represents the logged-in user.</a:t>
            </a:r>
            <a:endParaRPr b="0" i="0" sz="1100" u="none" cap="none" strike="noStrike">
              <a:solidFill>
                <a:schemeClr val="dk1"/>
              </a:solidFill>
              <a:latin typeface="Calibri"/>
              <a:ea typeface="Calibri"/>
              <a:cs typeface="Calibri"/>
              <a:sym typeface="Calibri"/>
            </a:endParaRPr>
          </a:p>
        </p:txBody>
      </p:sp>
      <p:sp>
        <p:nvSpPr>
          <p:cNvPr id="415" name="Google Shape;415;p47"/>
          <p:cNvSpPr/>
          <p:nvPr/>
        </p:nvSpPr>
        <p:spPr>
          <a:xfrm>
            <a:off x="411480" y="279806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Where it is stored</a:t>
            </a:r>
            <a:endParaRPr b="0" i="0" sz="1300" u="none" cap="none" strike="noStrike">
              <a:solidFill>
                <a:schemeClr val="dk1"/>
              </a:solidFill>
              <a:latin typeface="Calibri"/>
              <a:ea typeface="Calibri"/>
              <a:cs typeface="Calibri"/>
              <a:sym typeface="Calibri"/>
            </a:endParaRPr>
          </a:p>
        </p:txBody>
      </p:sp>
      <p:sp>
        <p:nvSpPr>
          <p:cNvPr id="416" name="Google Shape;416;p47"/>
          <p:cNvSpPr/>
          <p:nvPr/>
        </p:nvSpPr>
        <p:spPr>
          <a:xfrm>
            <a:off x="411480" y="3072384"/>
            <a:ext cx="8321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Spring Security keeps it in the SecurityContext for the current request.</a:t>
            </a:r>
            <a:endParaRPr b="0" i="0" sz="1100" u="none" cap="none" strike="noStrike">
              <a:solidFill>
                <a:schemeClr val="dk1"/>
              </a:solidFill>
              <a:latin typeface="Calibri"/>
              <a:ea typeface="Calibri"/>
              <a:cs typeface="Calibri"/>
              <a:sym typeface="Calibri"/>
            </a:endParaRPr>
          </a:p>
        </p:txBody>
      </p:sp>
      <p:sp>
        <p:nvSpPr>
          <p:cNvPr id="417" name="Google Shape;417;p47"/>
          <p:cNvSpPr/>
          <p:nvPr/>
        </p:nvSpPr>
        <p:spPr>
          <a:xfrm>
            <a:off x="411480" y="3502152"/>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Why this matters</a:t>
            </a:r>
            <a:endParaRPr b="0" i="0" sz="1300" u="none" cap="none" strike="noStrike">
              <a:solidFill>
                <a:schemeClr val="dk1"/>
              </a:solidFill>
              <a:latin typeface="Calibri"/>
              <a:ea typeface="Calibri"/>
              <a:cs typeface="Calibri"/>
              <a:sym typeface="Calibri"/>
            </a:endParaRPr>
          </a:p>
        </p:txBody>
      </p:sp>
      <p:sp>
        <p:nvSpPr>
          <p:cNvPr id="418" name="Google Shape;418;p47"/>
          <p:cNvSpPr/>
          <p:nvPr/>
        </p:nvSpPr>
        <p:spPr>
          <a:xfrm>
            <a:off x="411480" y="3776472"/>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Your controller and service code can access the current user, instead of re-checking credentials again.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sp>
        <p:nvSpPr>
          <p:cNvPr id="424" name="Google Shape;424;p48"/>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Principal and Authentication</a:t>
            </a:r>
            <a:endParaRPr b="0" i="0" sz="2000" u="none" cap="none" strike="noStrike">
              <a:solidFill>
                <a:schemeClr val="dk1"/>
              </a:solidFill>
              <a:latin typeface="Calibri"/>
              <a:ea typeface="Calibri"/>
              <a:cs typeface="Calibri"/>
              <a:sym typeface="Calibri"/>
            </a:endParaRPr>
          </a:p>
        </p:txBody>
      </p:sp>
      <p:sp>
        <p:nvSpPr>
          <p:cNvPr id="425" name="Google Shape;425;p48"/>
          <p:cNvSpPr/>
          <p:nvPr/>
        </p:nvSpPr>
        <p:spPr>
          <a:xfrm>
            <a:off x="411480" y="859536"/>
            <a:ext cx="8321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These two terms will appear in logs and in code, so we will keep them clear.</a:t>
            </a:r>
            <a:endParaRPr b="0" i="0" sz="1100" u="none" cap="none" strike="noStrike">
              <a:solidFill>
                <a:schemeClr val="dk1"/>
              </a:solidFill>
              <a:latin typeface="Calibri"/>
              <a:ea typeface="Calibri"/>
              <a:cs typeface="Calibri"/>
              <a:sym typeface="Calibri"/>
            </a:endParaRPr>
          </a:p>
        </p:txBody>
      </p:sp>
      <p:sp>
        <p:nvSpPr>
          <p:cNvPr id="426" name="Google Shape;426;p48"/>
          <p:cNvSpPr/>
          <p:nvPr/>
        </p:nvSpPr>
        <p:spPr>
          <a:xfrm>
            <a:off x="411480" y="1353312"/>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Principal</a:t>
            </a:r>
            <a:endParaRPr b="0" i="0" sz="1300" u="none" cap="none" strike="noStrike">
              <a:solidFill>
                <a:schemeClr val="dk1"/>
              </a:solidFill>
              <a:latin typeface="Calibri"/>
              <a:ea typeface="Calibri"/>
              <a:cs typeface="Calibri"/>
              <a:sym typeface="Calibri"/>
            </a:endParaRPr>
          </a:p>
        </p:txBody>
      </p:sp>
      <p:sp>
        <p:nvSpPr>
          <p:cNvPr id="427" name="Google Shape;427;p48"/>
          <p:cNvSpPr/>
          <p:nvPr/>
        </p:nvSpPr>
        <p:spPr>
          <a:xfrm>
            <a:off x="411480" y="1627632"/>
            <a:ext cx="8321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Principal represents who the user is, usually the username or email.</a:t>
            </a:r>
            <a:endParaRPr b="0" i="0" sz="1100" u="none" cap="none" strike="noStrike">
              <a:solidFill>
                <a:schemeClr val="dk1"/>
              </a:solidFill>
              <a:latin typeface="Calibri"/>
              <a:ea typeface="Calibri"/>
              <a:cs typeface="Calibri"/>
              <a:sym typeface="Calibri"/>
            </a:endParaRPr>
          </a:p>
        </p:txBody>
      </p:sp>
      <p:sp>
        <p:nvSpPr>
          <p:cNvPr id="428" name="Google Shape;428;p48"/>
          <p:cNvSpPr/>
          <p:nvPr/>
        </p:nvSpPr>
        <p:spPr>
          <a:xfrm>
            <a:off x="411480" y="205740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Authentication</a:t>
            </a:r>
            <a:endParaRPr b="0" i="0" sz="1300" u="none" cap="none" strike="noStrike">
              <a:solidFill>
                <a:schemeClr val="dk1"/>
              </a:solidFill>
              <a:latin typeface="Calibri"/>
              <a:ea typeface="Calibri"/>
              <a:cs typeface="Calibri"/>
              <a:sym typeface="Calibri"/>
            </a:endParaRPr>
          </a:p>
        </p:txBody>
      </p:sp>
      <p:sp>
        <p:nvSpPr>
          <p:cNvPr id="429" name="Google Shape;429;p48"/>
          <p:cNvSpPr/>
          <p:nvPr/>
        </p:nvSpPr>
        <p:spPr>
          <a:xfrm>
            <a:off x="411480" y="2331720"/>
            <a:ext cx="8321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Authentication represents the full logged-in state, including roles.</a:t>
            </a:r>
            <a:endParaRPr b="0" i="0" sz="1100" u="none" cap="none" strike="noStrike">
              <a:solidFill>
                <a:schemeClr val="dk1"/>
              </a:solidFill>
              <a:latin typeface="Calibri"/>
              <a:ea typeface="Calibri"/>
              <a:cs typeface="Calibri"/>
              <a:sym typeface="Calibri"/>
            </a:endParaRPr>
          </a:p>
        </p:txBody>
      </p:sp>
      <p:sp>
        <p:nvSpPr>
          <p:cNvPr id="430" name="Google Shape;430;p48"/>
          <p:cNvSpPr/>
          <p:nvPr/>
        </p:nvSpPr>
        <p:spPr>
          <a:xfrm>
            <a:off x="411480" y="2761488"/>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this enables</a:t>
            </a:r>
            <a:endParaRPr b="0" i="0" sz="1300" u="none" cap="none" strike="noStrike">
              <a:solidFill>
                <a:schemeClr val="dk1"/>
              </a:solidFill>
              <a:latin typeface="Calibri"/>
              <a:ea typeface="Calibri"/>
              <a:cs typeface="Calibri"/>
              <a:sym typeface="Calibri"/>
            </a:endParaRPr>
          </a:p>
        </p:txBody>
      </p:sp>
      <p:sp>
        <p:nvSpPr>
          <p:cNvPr id="431" name="Google Shape;431;p48"/>
          <p:cNvSpPr/>
          <p:nvPr/>
        </p:nvSpPr>
        <p:spPr>
          <a:xfrm>
            <a:off x="411480" y="3035808"/>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Once the request has a user and roles, Spring Security can allow or block protected endpoints based on rules.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436" name="Shape 436"/>
        <p:cNvGrpSpPr/>
        <p:nvPr/>
      </p:nvGrpSpPr>
      <p:grpSpPr>
        <a:xfrm>
          <a:off x="0" y="0"/>
          <a:ext cx="0" cy="0"/>
          <a:chOff x="0" y="0"/>
          <a:chExt cx="0" cy="0"/>
        </a:xfrm>
      </p:grpSpPr>
      <p:sp>
        <p:nvSpPr>
          <p:cNvPr id="437" name="Google Shape;437;p49"/>
          <p:cNvSpPr/>
          <p:nvPr/>
        </p:nvSpPr>
        <p:spPr>
          <a:xfrm>
            <a:off x="0" y="0"/>
            <a:ext cx="9144000" cy="514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Basic authentication</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2" name="Shape 442"/>
        <p:cNvGrpSpPr/>
        <p:nvPr/>
      </p:nvGrpSpPr>
      <p:grpSpPr>
        <a:xfrm>
          <a:off x="0" y="0"/>
          <a:ext cx="0" cy="0"/>
          <a:chOff x="0" y="0"/>
          <a:chExt cx="0" cy="0"/>
        </a:xfrm>
      </p:grpSpPr>
      <p:sp>
        <p:nvSpPr>
          <p:cNvPr id="443" name="Google Shape;443;p50"/>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What </a:t>
            </a:r>
            <a:r>
              <a:rPr b="1" lang="en" sz="2000">
                <a:solidFill>
                  <a:srgbClr val="0B1F3B"/>
                </a:solidFill>
                <a:latin typeface="Calibri"/>
                <a:ea typeface="Calibri"/>
                <a:cs typeface="Calibri"/>
                <a:sym typeface="Calibri"/>
              </a:rPr>
              <a:t>is</a:t>
            </a:r>
            <a:r>
              <a:rPr b="1" i="0" lang="en" sz="2000" u="none" cap="none" strike="noStrike">
                <a:solidFill>
                  <a:srgbClr val="0B1F3B"/>
                </a:solidFill>
                <a:latin typeface="Calibri"/>
                <a:ea typeface="Calibri"/>
                <a:cs typeface="Calibri"/>
                <a:sym typeface="Calibri"/>
              </a:rPr>
              <a:t> Basic </a:t>
            </a:r>
            <a:r>
              <a:rPr b="1" lang="en" sz="2000">
                <a:solidFill>
                  <a:srgbClr val="0B1F3B"/>
                </a:solidFill>
                <a:latin typeface="Calibri"/>
                <a:ea typeface="Calibri"/>
                <a:cs typeface="Calibri"/>
                <a:sym typeface="Calibri"/>
              </a:rPr>
              <a:t>Authentication?</a:t>
            </a:r>
            <a:endParaRPr b="0" i="0" sz="2000" u="none" cap="none" strike="noStrike">
              <a:solidFill>
                <a:schemeClr val="dk1"/>
              </a:solidFill>
              <a:latin typeface="Calibri"/>
              <a:ea typeface="Calibri"/>
              <a:cs typeface="Calibri"/>
              <a:sym typeface="Calibri"/>
            </a:endParaRPr>
          </a:p>
        </p:txBody>
      </p:sp>
      <p:sp>
        <p:nvSpPr>
          <p:cNvPr id="444" name="Google Shape;444;p50"/>
          <p:cNvSpPr/>
          <p:nvPr/>
        </p:nvSpPr>
        <p:spPr>
          <a:xfrm>
            <a:off x="411480" y="859536"/>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Basic </a:t>
            </a:r>
            <a:r>
              <a:rPr lang="en" sz="1100">
                <a:solidFill>
                  <a:srgbClr val="1F2937"/>
                </a:solidFill>
                <a:latin typeface="Calibri"/>
                <a:ea typeface="Calibri"/>
                <a:cs typeface="Calibri"/>
                <a:sym typeface="Calibri"/>
              </a:rPr>
              <a:t>Authentication</a:t>
            </a:r>
            <a:r>
              <a:rPr b="0" i="0" lang="en" sz="1100" u="none" cap="none" strike="noStrike">
                <a:solidFill>
                  <a:srgbClr val="1F2937"/>
                </a:solidFill>
                <a:latin typeface="Calibri"/>
                <a:ea typeface="Calibri"/>
                <a:cs typeface="Calibri"/>
                <a:sym typeface="Calibri"/>
              </a:rPr>
              <a:t> is </a:t>
            </a:r>
            <a:r>
              <a:rPr lang="en" sz="1100">
                <a:solidFill>
                  <a:srgbClr val="1F2937"/>
                </a:solidFill>
                <a:latin typeface="Calibri"/>
                <a:ea typeface="Calibri"/>
                <a:cs typeface="Calibri"/>
                <a:sym typeface="Calibri"/>
              </a:rPr>
              <a:t>a simple</a:t>
            </a:r>
            <a:r>
              <a:rPr b="0" i="0" lang="en" sz="1100" u="none" cap="none" strike="noStrike">
                <a:solidFill>
                  <a:srgbClr val="1F2937"/>
                </a:solidFill>
                <a:latin typeface="Calibri"/>
                <a:ea typeface="Calibri"/>
                <a:cs typeface="Calibri"/>
                <a:sym typeface="Calibri"/>
              </a:rPr>
              <a:t> way to secure an API. </a:t>
            </a:r>
            <a:endParaRPr b="0" i="0" sz="1100" u="none" cap="none" strike="noStrike">
              <a:solidFill>
                <a:srgbClr val="1F2937"/>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For every request, the client sends a username and password so the server can verify who is calling.</a:t>
            </a:r>
            <a:endParaRPr b="0" i="0" sz="1100" u="none" cap="none" strike="noStrike">
              <a:solidFill>
                <a:schemeClr val="dk1"/>
              </a:solidFill>
              <a:latin typeface="Calibri"/>
              <a:ea typeface="Calibri"/>
              <a:cs typeface="Calibri"/>
              <a:sym typeface="Calibri"/>
            </a:endParaRPr>
          </a:p>
        </p:txBody>
      </p:sp>
      <p:sp>
        <p:nvSpPr>
          <p:cNvPr id="445" name="Google Shape;445;p50"/>
          <p:cNvSpPr/>
          <p:nvPr/>
        </p:nvSpPr>
        <p:spPr>
          <a:xfrm>
            <a:off x="411480" y="16093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How the client sends credentials</a:t>
            </a:r>
            <a:endParaRPr b="0" i="0" sz="1300" u="none" cap="none" strike="noStrike">
              <a:solidFill>
                <a:schemeClr val="dk1"/>
              </a:solidFill>
              <a:latin typeface="Calibri"/>
              <a:ea typeface="Calibri"/>
              <a:cs typeface="Calibri"/>
              <a:sym typeface="Calibri"/>
            </a:endParaRPr>
          </a:p>
        </p:txBody>
      </p:sp>
      <p:sp>
        <p:nvSpPr>
          <p:cNvPr id="446" name="Google Shape;446;p50"/>
          <p:cNvSpPr/>
          <p:nvPr/>
        </p:nvSpPr>
        <p:spPr>
          <a:xfrm>
            <a:off x="411480" y="1883664"/>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The client includes an Authorization header in the HTTP request. The value starts with Basic, followed by a Base64 encoded string.</a:t>
            </a:r>
            <a:endParaRPr b="0" i="0" sz="1100" u="none" cap="none" strike="noStrike">
              <a:solidFill>
                <a:schemeClr val="dk1"/>
              </a:solidFill>
              <a:latin typeface="Calibri"/>
              <a:ea typeface="Calibri"/>
              <a:cs typeface="Calibri"/>
              <a:sym typeface="Calibri"/>
            </a:endParaRPr>
          </a:p>
        </p:txBody>
      </p:sp>
      <p:sp>
        <p:nvSpPr>
          <p:cNvPr id="447" name="Google Shape;447;p50"/>
          <p:cNvSpPr/>
          <p:nvPr/>
        </p:nvSpPr>
        <p:spPr>
          <a:xfrm>
            <a:off x="401995" y="2496312"/>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 format</a:t>
            </a:r>
            <a:endParaRPr b="0" i="0" sz="1300" u="none" cap="none" strike="noStrike">
              <a:solidFill>
                <a:schemeClr val="dk1"/>
              </a:solidFill>
              <a:latin typeface="Calibri"/>
              <a:ea typeface="Calibri"/>
              <a:cs typeface="Calibri"/>
              <a:sym typeface="Calibri"/>
            </a:endParaRPr>
          </a:p>
        </p:txBody>
      </p:sp>
      <p:sp>
        <p:nvSpPr>
          <p:cNvPr id="448" name="Google Shape;448;p50"/>
          <p:cNvSpPr/>
          <p:nvPr/>
        </p:nvSpPr>
        <p:spPr>
          <a:xfrm>
            <a:off x="411480" y="2675757"/>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449" name="Google Shape;449;p50"/>
          <p:cNvSpPr/>
          <p:nvPr/>
        </p:nvSpPr>
        <p:spPr>
          <a:xfrm>
            <a:off x="411480" y="2817280"/>
            <a:ext cx="83211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Authorization: Basic &lt;base64 of username:password&gt;</a:t>
            </a:r>
            <a:endParaRPr b="0" i="0" sz="1100" u="none" cap="none" strike="noStrike">
              <a:solidFill>
                <a:schemeClr val="dk1"/>
              </a:solidFill>
              <a:latin typeface="Calibri"/>
              <a:ea typeface="Calibri"/>
              <a:cs typeface="Calibri"/>
              <a:sym typeface="Calibri"/>
            </a:endParaRPr>
          </a:p>
        </p:txBody>
      </p:sp>
      <p:sp>
        <p:nvSpPr>
          <p:cNvPr id="450" name="Google Shape;450;p50"/>
          <p:cNvSpPr/>
          <p:nvPr/>
        </p:nvSpPr>
        <p:spPr>
          <a:xfrm>
            <a:off x="411480" y="3332418"/>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Important note</a:t>
            </a:r>
            <a:endParaRPr b="0" i="0" sz="1300" u="none" cap="none" strike="noStrike">
              <a:solidFill>
                <a:schemeClr val="dk1"/>
              </a:solidFill>
              <a:latin typeface="Calibri"/>
              <a:ea typeface="Calibri"/>
              <a:cs typeface="Calibri"/>
              <a:sym typeface="Calibri"/>
            </a:endParaRPr>
          </a:p>
        </p:txBody>
      </p:sp>
      <p:sp>
        <p:nvSpPr>
          <p:cNvPr id="451" name="Google Shape;451;p50"/>
          <p:cNvSpPr/>
          <p:nvPr/>
        </p:nvSpPr>
        <p:spPr>
          <a:xfrm>
            <a:off x="411480" y="3606738"/>
            <a:ext cx="83211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lang="en" sz="1100">
                <a:solidFill>
                  <a:srgbClr val="1F2937"/>
                </a:solidFill>
                <a:latin typeface="Calibri"/>
                <a:ea typeface="Calibri"/>
                <a:cs typeface="Calibri"/>
                <a:sym typeface="Calibri"/>
              </a:rPr>
              <a:t>Base64 is not encryption. It only turns text into a different readable form. Anyone who sees it can decode it back, so Basic Auth must be used with HTTPS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6" name="Shape 456"/>
        <p:cNvGrpSpPr/>
        <p:nvPr/>
      </p:nvGrpSpPr>
      <p:grpSpPr>
        <a:xfrm>
          <a:off x="0" y="0"/>
          <a:ext cx="0" cy="0"/>
          <a:chOff x="0" y="0"/>
          <a:chExt cx="0" cy="0"/>
        </a:xfrm>
      </p:grpSpPr>
      <p:sp>
        <p:nvSpPr>
          <p:cNvPr id="457" name="Google Shape;457;p51"/>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Why Basic </a:t>
            </a:r>
            <a:r>
              <a:rPr b="1" lang="en" sz="2000">
                <a:solidFill>
                  <a:srgbClr val="0B1F3B"/>
                </a:solidFill>
                <a:latin typeface="Calibri"/>
                <a:ea typeface="Calibri"/>
                <a:cs typeface="Calibri"/>
                <a:sym typeface="Calibri"/>
              </a:rPr>
              <a:t>Authentication</a:t>
            </a:r>
            <a:r>
              <a:rPr b="1" i="0" lang="en" sz="2000" u="none" cap="none" strike="noStrike">
                <a:solidFill>
                  <a:srgbClr val="0B1F3B"/>
                </a:solidFill>
                <a:latin typeface="Calibri"/>
                <a:ea typeface="Calibri"/>
                <a:cs typeface="Calibri"/>
                <a:sym typeface="Calibri"/>
              </a:rPr>
              <a:t> is used </a:t>
            </a:r>
            <a:r>
              <a:rPr b="1" lang="en" sz="2000">
                <a:solidFill>
                  <a:srgbClr val="0B1F3B"/>
                </a:solidFill>
                <a:latin typeface="Calibri"/>
                <a:ea typeface="Calibri"/>
                <a:cs typeface="Calibri"/>
                <a:sym typeface="Calibri"/>
              </a:rPr>
              <a:t>&amp;</a:t>
            </a:r>
            <a:r>
              <a:rPr b="1" i="0" lang="en" sz="2000" u="none" cap="none" strike="noStrike">
                <a:solidFill>
                  <a:srgbClr val="0B1F3B"/>
                </a:solidFill>
                <a:latin typeface="Calibri"/>
                <a:ea typeface="Calibri"/>
                <a:cs typeface="Calibri"/>
                <a:sym typeface="Calibri"/>
              </a:rPr>
              <a:t> when it makes sense</a:t>
            </a:r>
            <a:endParaRPr b="0" i="0" sz="2000" u="none" cap="none" strike="noStrike">
              <a:solidFill>
                <a:schemeClr val="dk1"/>
              </a:solidFill>
              <a:latin typeface="Calibri"/>
              <a:ea typeface="Calibri"/>
              <a:cs typeface="Calibri"/>
              <a:sym typeface="Calibri"/>
            </a:endParaRPr>
          </a:p>
        </p:txBody>
      </p:sp>
      <p:sp>
        <p:nvSpPr>
          <p:cNvPr id="458" name="Google Shape;458;p51"/>
          <p:cNvSpPr/>
          <p:nvPr/>
        </p:nvSpPr>
        <p:spPr>
          <a:xfrm>
            <a:off x="411480" y="859536"/>
            <a:ext cx="83210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Basic </a:t>
            </a:r>
            <a:r>
              <a:rPr lang="en" sz="1100">
                <a:solidFill>
                  <a:srgbClr val="1F2937"/>
                </a:solidFill>
                <a:latin typeface="Calibri"/>
                <a:ea typeface="Calibri"/>
                <a:cs typeface="Calibri"/>
                <a:sym typeface="Calibri"/>
              </a:rPr>
              <a:t>Authentication</a:t>
            </a:r>
            <a:r>
              <a:rPr b="0" i="0" lang="en" sz="1100" u="none" cap="none" strike="noStrike">
                <a:solidFill>
                  <a:srgbClr val="1F2937"/>
                </a:solidFill>
                <a:latin typeface="Calibri"/>
                <a:ea typeface="Calibri"/>
                <a:cs typeface="Calibri"/>
                <a:sym typeface="Calibri"/>
              </a:rPr>
              <a:t> is popular because it is easy to set up and easy to test. It works especially well when you control the environment and you are not building a public consumer app.</a:t>
            </a:r>
            <a:endParaRPr b="0" i="0" sz="1100" u="none" cap="none" strike="noStrike">
              <a:solidFill>
                <a:schemeClr val="dk1"/>
              </a:solidFill>
              <a:latin typeface="Calibri"/>
              <a:ea typeface="Calibri"/>
              <a:cs typeface="Calibri"/>
              <a:sym typeface="Calibri"/>
            </a:endParaRPr>
          </a:p>
        </p:txBody>
      </p:sp>
      <p:sp>
        <p:nvSpPr>
          <p:cNvPr id="459" name="Google Shape;459;p51"/>
          <p:cNvSpPr/>
          <p:nvPr/>
        </p:nvSpPr>
        <p:spPr>
          <a:xfrm>
            <a:off x="411480" y="165506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Good fits</a:t>
            </a:r>
            <a:endParaRPr b="0" i="0" sz="1300" u="none" cap="none" strike="noStrike">
              <a:solidFill>
                <a:schemeClr val="dk1"/>
              </a:solidFill>
              <a:latin typeface="Calibri"/>
              <a:ea typeface="Calibri"/>
              <a:cs typeface="Calibri"/>
              <a:sym typeface="Calibri"/>
            </a:endParaRPr>
          </a:p>
        </p:txBody>
      </p:sp>
      <p:sp>
        <p:nvSpPr>
          <p:cNvPr id="460" name="Google Shape;460;p51"/>
          <p:cNvSpPr/>
          <p:nvPr/>
        </p:nvSpPr>
        <p:spPr>
          <a:xfrm>
            <a:off x="411480" y="1929384"/>
            <a:ext cx="8321040" cy="86868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Internal admin tools.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Private APIs behind a VPN.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Learning and demo projects.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Services protected by an API gateway.</a:t>
            </a:r>
            <a:endParaRPr b="0" i="0" sz="1100" u="none" cap="none" strike="noStrike">
              <a:solidFill>
                <a:schemeClr val="dk1"/>
              </a:solidFill>
              <a:latin typeface="Calibri"/>
              <a:ea typeface="Calibri"/>
              <a:cs typeface="Calibri"/>
              <a:sym typeface="Calibri"/>
            </a:endParaRPr>
          </a:p>
        </p:txBody>
      </p:sp>
      <p:sp>
        <p:nvSpPr>
          <p:cNvPr id="461" name="Google Shape;461;p51"/>
          <p:cNvSpPr/>
          <p:nvPr/>
        </p:nvSpPr>
        <p:spPr>
          <a:xfrm>
            <a:off x="411480" y="287121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Bad fits</a:t>
            </a:r>
            <a:endParaRPr b="0" i="0" sz="1300" u="none" cap="none" strike="noStrike">
              <a:solidFill>
                <a:schemeClr val="dk1"/>
              </a:solidFill>
              <a:latin typeface="Calibri"/>
              <a:ea typeface="Calibri"/>
              <a:cs typeface="Calibri"/>
              <a:sym typeface="Calibri"/>
            </a:endParaRPr>
          </a:p>
        </p:txBody>
      </p:sp>
      <p:sp>
        <p:nvSpPr>
          <p:cNvPr id="462" name="Google Shape;462;p51"/>
          <p:cNvSpPr/>
          <p:nvPr/>
        </p:nvSpPr>
        <p:spPr>
          <a:xfrm>
            <a:off x="411480" y="3145536"/>
            <a:ext cx="8321040" cy="77724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Public apps where sending a password repeatedly is risky.</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Systems that need logout, token expiry, or session tracking.</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Clients that cannot safely store long-term credentials.</a:t>
            </a:r>
            <a:endParaRPr b="0" i="0" sz="1100" u="none" cap="none" strike="noStrike">
              <a:solidFill>
                <a:schemeClr val="dk1"/>
              </a:solidFill>
              <a:latin typeface="Calibri"/>
              <a:ea typeface="Calibri"/>
              <a:cs typeface="Calibri"/>
              <a:sym typeface="Calibri"/>
            </a:endParaRPr>
          </a:p>
        </p:txBody>
      </p:sp>
      <p:sp>
        <p:nvSpPr>
          <p:cNvPr id="463" name="Google Shape;463;p51"/>
          <p:cNvSpPr/>
          <p:nvPr/>
        </p:nvSpPr>
        <p:spPr>
          <a:xfrm>
            <a:off x="411480" y="3995928"/>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One rule you cannot ignore</a:t>
            </a:r>
            <a:endParaRPr b="0" i="0" sz="1300" u="none" cap="none" strike="noStrike">
              <a:solidFill>
                <a:schemeClr val="dk1"/>
              </a:solidFill>
              <a:latin typeface="Calibri"/>
              <a:ea typeface="Calibri"/>
              <a:cs typeface="Calibri"/>
              <a:sym typeface="Calibri"/>
            </a:endParaRPr>
          </a:p>
        </p:txBody>
      </p:sp>
      <p:sp>
        <p:nvSpPr>
          <p:cNvPr id="464" name="Google Shape;464;p51"/>
          <p:cNvSpPr/>
          <p:nvPr/>
        </p:nvSpPr>
        <p:spPr>
          <a:xfrm>
            <a:off x="411480" y="4270248"/>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If you use Basic authentication, you must use HTTPS. Without HTTPS, credentials can be captured on the network.</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52"/>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What happens on every protected request</a:t>
            </a:r>
            <a:endParaRPr b="0" i="0" sz="2000" u="none" cap="none" strike="noStrike">
              <a:solidFill>
                <a:schemeClr val="dk1"/>
              </a:solidFill>
              <a:latin typeface="Calibri"/>
              <a:ea typeface="Calibri"/>
              <a:cs typeface="Calibri"/>
              <a:sym typeface="Calibri"/>
            </a:endParaRPr>
          </a:p>
        </p:txBody>
      </p:sp>
      <p:sp>
        <p:nvSpPr>
          <p:cNvPr id="471" name="Google Shape;471;p52"/>
          <p:cNvSpPr/>
          <p:nvPr/>
        </p:nvSpPr>
        <p:spPr>
          <a:xfrm>
            <a:off x="411480" y="859536"/>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Basic </a:t>
            </a:r>
            <a:r>
              <a:rPr lang="en" sz="1100">
                <a:solidFill>
                  <a:srgbClr val="1F2937"/>
                </a:solidFill>
                <a:latin typeface="Calibri"/>
                <a:ea typeface="Calibri"/>
                <a:cs typeface="Calibri"/>
                <a:sym typeface="Calibri"/>
              </a:rPr>
              <a:t>Authentication</a:t>
            </a:r>
            <a:r>
              <a:rPr b="0" i="0" lang="en" sz="1100" u="none" cap="none" strike="noStrike">
                <a:solidFill>
                  <a:srgbClr val="1F2937"/>
                </a:solidFill>
                <a:latin typeface="Calibri"/>
                <a:ea typeface="Calibri"/>
                <a:cs typeface="Calibri"/>
                <a:sym typeface="Calibri"/>
              </a:rPr>
              <a:t> does not create a server-side login session by default. The server verifies credentials again for each protected request.</a:t>
            </a:r>
            <a:endParaRPr b="0" i="0" sz="1100" u="none" cap="none" strike="noStrike">
              <a:solidFill>
                <a:schemeClr val="dk1"/>
              </a:solidFill>
              <a:latin typeface="Calibri"/>
              <a:ea typeface="Calibri"/>
              <a:cs typeface="Calibri"/>
              <a:sym typeface="Calibri"/>
            </a:endParaRPr>
          </a:p>
        </p:txBody>
      </p:sp>
      <p:sp>
        <p:nvSpPr>
          <p:cNvPr id="472" name="Google Shape;472;p52"/>
          <p:cNvSpPr/>
          <p:nvPr/>
        </p:nvSpPr>
        <p:spPr>
          <a:xfrm>
            <a:off x="411480" y="16093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the server does each time</a:t>
            </a:r>
            <a:endParaRPr b="0" i="0" sz="1300" u="none" cap="none" strike="noStrike">
              <a:solidFill>
                <a:schemeClr val="dk1"/>
              </a:solidFill>
              <a:latin typeface="Calibri"/>
              <a:ea typeface="Calibri"/>
              <a:cs typeface="Calibri"/>
              <a:sym typeface="Calibri"/>
            </a:endParaRPr>
          </a:p>
        </p:txBody>
      </p:sp>
      <p:sp>
        <p:nvSpPr>
          <p:cNvPr id="473" name="Google Shape;473;p52"/>
          <p:cNvSpPr/>
          <p:nvPr/>
        </p:nvSpPr>
        <p:spPr>
          <a:xfrm>
            <a:off x="411480" y="1883664"/>
            <a:ext cx="8321040" cy="11430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Reads the Authorization header.</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Decodes username and password.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Verifies the credentials against the user store.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Loads roles for the user.</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Applies authorization rules for the endpoint.</a:t>
            </a:r>
            <a:endParaRPr b="0" i="0" sz="1100" u="none" cap="none" strike="noStrike">
              <a:solidFill>
                <a:schemeClr val="dk1"/>
              </a:solidFill>
              <a:latin typeface="Calibri"/>
              <a:ea typeface="Calibri"/>
              <a:cs typeface="Calibri"/>
              <a:sym typeface="Calibri"/>
            </a:endParaRPr>
          </a:p>
        </p:txBody>
      </p:sp>
      <p:sp>
        <p:nvSpPr>
          <p:cNvPr id="474" name="Google Shape;474;p52"/>
          <p:cNvSpPr/>
          <p:nvPr/>
        </p:nvSpPr>
        <p:spPr>
          <a:xfrm>
            <a:off x="411480" y="309981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Why this matters</a:t>
            </a:r>
            <a:endParaRPr b="0" i="0" sz="1300" u="none" cap="none" strike="noStrike">
              <a:solidFill>
                <a:schemeClr val="dk1"/>
              </a:solidFill>
              <a:latin typeface="Calibri"/>
              <a:ea typeface="Calibri"/>
              <a:cs typeface="Calibri"/>
              <a:sym typeface="Calibri"/>
            </a:endParaRPr>
          </a:p>
        </p:txBody>
      </p:sp>
      <p:sp>
        <p:nvSpPr>
          <p:cNvPr id="475" name="Google Shape;475;p52"/>
          <p:cNvSpPr/>
          <p:nvPr/>
        </p:nvSpPr>
        <p:spPr>
          <a:xfrm>
            <a:off x="411480" y="3374136"/>
            <a:ext cx="8321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This repeated verification is one reason many systems later move to token-based approaches. Tokens reduce how often the server needs to re-check passwords.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sp>
        <p:nvSpPr>
          <p:cNvPr id="481" name="Google Shape;481;p53"/>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How will </a:t>
            </a:r>
            <a:r>
              <a:rPr b="1" lang="en" sz="2000">
                <a:solidFill>
                  <a:srgbClr val="0B1F3B"/>
                </a:solidFill>
                <a:latin typeface="Calibri"/>
                <a:ea typeface="Calibri"/>
                <a:cs typeface="Calibri"/>
                <a:sym typeface="Calibri"/>
              </a:rPr>
              <a:t>we</a:t>
            </a:r>
            <a:r>
              <a:rPr b="1" i="0" lang="en" sz="2000" u="none" cap="none" strike="noStrike">
                <a:solidFill>
                  <a:srgbClr val="0B1F3B"/>
                </a:solidFill>
                <a:latin typeface="Calibri"/>
                <a:ea typeface="Calibri"/>
                <a:cs typeface="Calibri"/>
                <a:sym typeface="Calibri"/>
              </a:rPr>
              <a:t> use Basic </a:t>
            </a:r>
            <a:r>
              <a:rPr b="1" lang="en" sz="2000">
                <a:solidFill>
                  <a:srgbClr val="0B1F3B"/>
                </a:solidFill>
                <a:latin typeface="Calibri"/>
                <a:ea typeface="Calibri"/>
                <a:cs typeface="Calibri"/>
                <a:sym typeface="Calibri"/>
              </a:rPr>
              <a:t>A</a:t>
            </a:r>
            <a:r>
              <a:rPr b="1" i="0" lang="en" sz="2000" u="none" cap="none" strike="noStrike">
                <a:solidFill>
                  <a:srgbClr val="0B1F3B"/>
                </a:solidFill>
                <a:latin typeface="Calibri"/>
                <a:ea typeface="Calibri"/>
                <a:cs typeface="Calibri"/>
                <a:sym typeface="Calibri"/>
              </a:rPr>
              <a:t>uthentication?</a:t>
            </a:r>
            <a:endParaRPr b="0" i="0" sz="2000" u="none" cap="none" strike="noStrike">
              <a:solidFill>
                <a:schemeClr val="dk1"/>
              </a:solidFill>
              <a:latin typeface="Calibri"/>
              <a:ea typeface="Calibri"/>
              <a:cs typeface="Calibri"/>
              <a:sym typeface="Calibri"/>
            </a:endParaRPr>
          </a:p>
        </p:txBody>
      </p:sp>
      <p:sp>
        <p:nvSpPr>
          <p:cNvPr id="482" name="Google Shape;482;p53"/>
          <p:cNvSpPr/>
          <p:nvPr/>
        </p:nvSpPr>
        <p:spPr>
          <a:xfrm>
            <a:off x="411480" y="859536"/>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We will start with Basic authentication in our project to secure our REST APIs.</a:t>
            </a:r>
            <a:endParaRPr b="0" i="0" sz="1100" u="none" cap="none" strike="noStrike">
              <a:solidFill>
                <a:schemeClr val="dk1"/>
              </a:solidFill>
              <a:latin typeface="Calibri"/>
              <a:ea typeface="Calibri"/>
              <a:cs typeface="Calibri"/>
              <a:sym typeface="Calibri"/>
            </a:endParaRPr>
          </a:p>
        </p:txBody>
      </p:sp>
      <p:sp>
        <p:nvSpPr>
          <p:cNvPr id="483" name="Google Shape;483;p53"/>
          <p:cNvSpPr/>
          <p:nvPr/>
        </p:nvSpPr>
        <p:spPr>
          <a:xfrm>
            <a:off x="411480" y="13807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Our starting policy</a:t>
            </a:r>
            <a:endParaRPr b="0" i="0" sz="1300" u="none" cap="none" strike="noStrike">
              <a:solidFill>
                <a:schemeClr val="dk1"/>
              </a:solidFill>
              <a:latin typeface="Calibri"/>
              <a:ea typeface="Calibri"/>
              <a:cs typeface="Calibri"/>
              <a:sym typeface="Calibri"/>
            </a:endParaRPr>
          </a:p>
        </p:txBody>
      </p:sp>
      <p:sp>
        <p:nvSpPr>
          <p:cNvPr id="484" name="Google Shape;484;p53"/>
          <p:cNvSpPr/>
          <p:nvPr/>
        </p:nvSpPr>
        <p:spPr>
          <a:xfrm>
            <a:off x="411480" y="1655064"/>
            <a:ext cx="8321040" cy="82296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Signup is public so a new user can be created.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All other endpoints require authentication.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Destructive actions require the ADMIN role, such as deleting a course.</a:t>
            </a:r>
            <a:endParaRPr b="0" i="0" sz="1100" u="none" cap="none" strike="noStrike">
              <a:solidFill>
                <a:schemeClr val="dk1"/>
              </a:solidFill>
              <a:latin typeface="Calibri"/>
              <a:ea typeface="Calibri"/>
              <a:cs typeface="Calibri"/>
              <a:sym typeface="Calibri"/>
            </a:endParaRPr>
          </a:p>
        </p:txBody>
      </p:sp>
      <p:sp>
        <p:nvSpPr>
          <p:cNvPr id="485" name="Google Shape;485;p53"/>
          <p:cNvSpPr/>
          <p:nvPr/>
        </p:nvSpPr>
        <p:spPr>
          <a:xfrm>
            <a:off x="411480" y="255117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How we will verify it using Postman</a:t>
            </a:r>
            <a:endParaRPr b="0" i="0" sz="1300" u="none" cap="none" strike="noStrike">
              <a:solidFill>
                <a:schemeClr val="dk1"/>
              </a:solidFill>
              <a:latin typeface="Calibri"/>
              <a:ea typeface="Calibri"/>
              <a:cs typeface="Calibri"/>
              <a:sym typeface="Calibri"/>
            </a:endParaRPr>
          </a:p>
        </p:txBody>
      </p:sp>
      <p:sp>
        <p:nvSpPr>
          <p:cNvPr id="486" name="Google Shape;486;p53"/>
          <p:cNvSpPr/>
          <p:nvPr/>
        </p:nvSpPr>
        <p:spPr>
          <a:xfrm>
            <a:off x="411480" y="2825496"/>
            <a:ext cx="8321040" cy="86868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Call a protected endpoint without credentials and confirm 401.</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Call the same endpoint with valid credentials and confirm success.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Call an admin-only endpoint as a student and confirm 403.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491" name="Shape 491"/>
        <p:cNvGrpSpPr/>
        <p:nvPr/>
      </p:nvGrpSpPr>
      <p:grpSpPr>
        <a:xfrm>
          <a:off x="0" y="0"/>
          <a:ext cx="0" cy="0"/>
          <a:chOff x="0" y="0"/>
          <a:chExt cx="0" cy="0"/>
        </a:xfrm>
      </p:grpSpPr>
      <p:sp>
        <p:nvSpPr>
          <p:cNvPr id="492" name="Google Shape;492;p54"/>
          <p:cNvSpPr/>
          <p:nvPr/>
        </p:nvSpPr>
        <p:spPr>
          <a:xfrm>
            <a:off x="0" y="0"/>
            <a:ext cx="9144000" cy="514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DB-backed users and roles in our project</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55"/>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Why we need a User collection in this project</a:t>
            </a:r>
            <a:endParaRPr b="0" i="0" sz="2000" u="none" cap="none" strike="noStrike">
              <a:solidFill>
                <a:schemeClr val="dk1"/>
              </a:solidFill>
              <a:latin typeface="Calibri"/>
              <a:ea typeface="Calibri"/>
              <a:cs typeface="Calibri"/>
              <a:sym typeface="Calibri"/>
            </a:endParaRPr>
          </a:p>
        </p:txBody>
      </p:sp>
      <p:sp>
        <p:nvSpPr>
          <p:cNvPr id="499" name="Google Shape;499;p55"/>
          <p:cNvSpPr/>
          <p:nvPr/>
        </p:nvSpPr>
        <p:spPr>
          <a:xfrm>
            <a:off x="411480" y="859536"/>
            <a:ext cx="83210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Right now, our Student document represents a person in the domain, like name, email, and active status. </a:t>
            </a:r>
            <a:endParaRPr b="0" i="0" sz="1100" u="none" cap="none" strike="noStrike">
              <a:solidFill>
                <a:srgbClr val="1F2937"/>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For security, we also need a separate record that represents identity and access.</a:t>
            </a:r>
            <a:endParaRPr b="0" i="0" sz="1100" u="none" cap="none" strike="noStrike">
              <a:solidFill>
                <a:schemeClr val="dk1"/>
              </a:solidFill>
              <a:latin typeface="Calibri"/>
              <a:ea typeface="Calibri"/>
              <a:cs typeface="Calibri"/>
              <a:sym typeface="Calibri"/>
            </a:endParaRPr>
          </a:p>
        </p:txBody>
      </p:sp>
      <p:sp>
        <p:nvSpPr>
          <p:cNvPr id="500" name="Google Shape;500;p55"/>
          <p:cNvSpPr/>
          <p:nvPr/>
        </p:nvSpPr>
        <p:spPr>
          <a:xfrm>
            <a:off x="411480" y="165506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a User record is responsible for</a:t>
            </a:r>
            <a:endParaRPr b="0" i="0" sz="1300" u="none" cap="none" strike="noStrike">
              <a:solidFill>
                <a:schemeClr val="dk1"/>
              </a:solidFill>
              <a:latin typeface="Calibri"/>
              <a:ea typeface="Calibri"/>
              <a:cs typeface="Calibri"/>
              <a:sym typeface="Calibri"/>
            </a:endParaRPr>
          </a:p>
        </p:txBody>
      </p:sp>
      <p:sp>
        <p:nvSpPr>
          <p:cNvPr id="501" name="Google Shape;501;p55"/>
          <p:cNvSpPr/>
          <p:nvPr/>
        </p:nvSpPr>
        <p:spPr>
          <a:xfrm>
            <a:off x="411480" y="1929384"/>
            <a:ext cx="8321040" cy="96012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Storing login identity, such as email.</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Storing proof of identity as a password hash.</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Storing roles, such as STUDENT or ADMIN.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Enabling or disabling access without deleting the student data.</a:t>
            </a:r>
            <a:endParaRPr b="0" i="0" sz="1100" u="none" cap="none" strike="noStrike">
              <a:solidFill>
                <a:schemeClr val="dk1"/>
              </a:solidFill>
              <a:latin typeface="Calibri"/>
              <a:ea typeface="Calibri"/>
              <a:cs typeface="Calibri"/>
              <a:sym typeface="Calibri"/>
            </a:endParaRPr>
          </a:p>
        </p:txBody>
      </p:sp>
      <p:sp>
        <p:nvSpPr>
          <p:cNvPr id="502" name="Google Shape;502;p55"/>
          <p:cNvSpPr/>
          <p:nvPr/>
        </p:nvSpPr>
        <p:spPr>
          <a:xfrm>
            <a:off x="411480" y="296265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Why we keep it separate from Student</a:t>
            </a:r>
            <a:endParaRPr b="0" i="0" sz="1300" u="none" cap="none" strike="noStrike">
              <a:solidFill>
                <a:schemeClr val="dk1"/>
              </a:solidFill>
              <a:latin typeface="Calibri"/>
              <a:ea typeface="Calibri"/>
              <a:cs typeface="Calibri"/>
              <a:sym typeface="Calibri"/>
            </a:endParaRPr>
          </a:p>
        </p:txBody>
      </p:sp>
      <p:sp>
        <p:nvSpPr>
          <p:cNvPr id="503" name="Google Shape;503;p55"/>
          <p:cNvSpPr/>
          <p:nvPr/>
        </p:nvSpPr>
        <p:spPr>
          <a:xfrm>
            <a:off x="411480" y="3236976"/>
            <a:ext cx="8321040" cy="59436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Student stays clean as domain data.</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User stays focused on authentication and authorization data.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8" name="Shape 508"/>
        <p:cNvGrpSpPr/>
        <p:nvPr/>
      </p:nvGrpSpPr>
      <p:grpSpPr>
        <a:xfrm>
          <a:off x="0" y="0"/>
          <a:ext cx="0" cy="0"/>
          <a:chOff x="0" y="0"/>
          <a:chExt cx="0" cy="0"/>
        </a:xfrm>
      </p:grpSpPr>
      <p:sp>
        <p:nvSpPr>
          <p:cNvPr id="509" name="Google Shape;509;p56"/>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What do we store in the users collection?</a:t>
            </a:r>
            <a:endParaRPr b="0" i="0" sz="2000" u="none" cap="none" strike="noStrike">
              <a:solidFill>
                <a:schemeClr val="dk1"/>
              </a:solidFill>
              <a:latin typeface="Calibri"/>
              <a:ea typeface="Calibri"/>
              <a:cs typeface="Calibri"/>
              <a:sym typeface="Calibri"/>
            </a:endParaRPr>
          </a:p>
        </p:txBody>
      </p:sp>
      <p:sp>
        <p:nvSpPr>
          <p:cNvPr id="510" name="Google Shape;510;p56"/>
          <p:cNvSpPr/>
          <p:nvPr/>
        </p:nvSpPr>
        <p:spPr>
          <a:xfrm>
            <a:off x="411480" y="859536"/>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We will create a collection named users, and each user will be one document.</a:t>
            </a:r>
            <a:endParaRPr b="0" i="0" sz="1100" u="none" cap="none" strike="noStrike">
              <a:solidFill>
                <a:schemeClr val="dk1"/>
              </a:solidFill>
              <a:latin typeface="Calibri"/>
              <a:ea typeface="Calibri"/>
              <a:cs typeface="Calibri"/>
              <a:sym typeface="Calibri"/>
            </a:endParaRPr>
          </a:p>
        </p:txBody>
      </p:sp>
      <p:sp>
        <p:nvSpPr>
          <p:cNvPr id="511" name="Google Shape;511;p56"/>
          <p:cNvSpPr/>
          <p:nvPr/>
        </p:nvSpPr>
        <p:spPr>
          <a:xfrm>
            <a:off x="411480" y="13807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Fields we will store</a:t>
            </a:r>
            <a:endParaRPr b="0" i="0" sz="1300" u="none" cap="none" strike="noStrike">
              <a:solidFill>
                <a:schemeClr val="dk1"/>
              </a:solidFill>
              <a:latin typeface="Calibri"/>
              <a:ea typeface="Calibri"/>
              <a:cs typeface="Calibri"/>
              <a:sym typeface="Calibri"/>
            </a:endParaRPr>
          </a:p>
        </p:txBody>
      </p:sp>
      <p:sp>
        <p:nvSpPr>
          <p:cNvPr id="512" name="Google Shape;512;p56"/>
          <p:cNvSpPr/>
          <p:nvPr/>
        </p:nvSpPr>
        <p:spPr>
          <a:xfrm>
            <a:off x="411480" y="1655064"/>
            <a:ext cx="8321040" cy="11430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Email, used as the login identity.</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PasswordHash, used to verify the password securely.</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Roles, a list of role strings such as STUDENT or ADMIN.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Enabled, so we can disable access quickly.</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CreatedAt and UpdatedAt exist so we can audit basic changes.</a:t>
            </a:r>
            <a:endParaRPr b="0" i="0" sz="1100" u="none" cap="none" strike="noStrike">
              <a:solidFill>
                <a:schemeClr val="dk1"/>
              </a:solidFill>
              <a:latin typeface="Calibri"/>
              <a:ea typeface="Calibri"/>
              <a:cs typeface="Calibri"/>
              <a:sym typeface="Calibri"/>
            </a:endParaRPr>
          </a:p>
        </p:txBody>
      </p:sp>
      <p:sp>
        <p:nvSpPr>
          <p:cNvPr id="513" name="Google Shape;513;p56"/>
          <p:cNvSpPr/>
          <p:nvPr/>
        </p:nvSpPr>
        <p:spPr>
          <a:xfrm>
            <a:off x="411480" y="287121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 user document</a:t>
            </a:r>
            <a:endParaRPr b="0" i="0" sz="1300" u="none" cap="none" strike="noStrike">
              <a:solidFill>
                <a:schemeClr val="dk1"/>
              </a:solidFill>
              <a:latin typeface="Calibri"/>
              <a:ea typeface="Calibri"/>
              <a:cs typeface="Calibri"/>
              <a:sym typeface="Calibri"/>
            </a:endParaRPr>
          </a:p>
        </p:txBody>
      </p:sp>
      <p:sp>
        <p:nvSpPr>
          <p:cNvPr id="514" name="Google Shape;514;p56"/>
          <p:cNvSpPr/>
          <p:nvPr/>
        </p:nvSpPr>
        <p:spPr>
          <a:xfrm>
            <a:off x="411480" y="3145536"/>
            <a:ext cx="832104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"_id": "65c0a13aa9c7e24e0f4e9012",</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"email": "kiran.p@gmail.com",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"passwordHash": "5f4dcc3b5aa765d61d8327deb882cf99",</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"roles": ["STUDENT"],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"enabled": true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9" name="Shape 519"/>
        <p:cNvGrpSpPr/>
        <p:nvPr/>
      </p:nvGrpSpPr>
      <p:grpSpPr>
        <a:xfrm>
          <a:off x="0" y="0"/>
          <a:ext cx="0" cy="0"/>
          <a:chOff x="0" y="0"/>
          <a:chExt cx="0" cy="0"/>
        </a:xfrm>
      </p:grpSpPr>
      <p:sp>
        <p:nvSpPr>
          <p:cNvPr id="520" name="Google Shape;520;p57"/>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Uniqueness rule and why it matters</a:t>
            </a:r>
            <a:endParaRPr b="0" i="0" sz="2000" u="none" cap="none" strike="noStrike">
              <a:solidFill>
                <a:schemeClr val="dk1"/>
              </a:solidFill>
              <a:latin typeface="Calibri"/>
              <a:ea typeface="Calibri"/>
              <a:cs typeface="Calibri"/>
              <a:sym typeface="Calibri"/>
            </a:endParaRPr>
          </a:p>
        </p:txBody>
      </p:sp>
      <p:sp>
        <p:nvSpPr>
          <p:cNvPr id="521" name="Google Shape;521;p57"/>
          <p:cNvSpPr/>
          <p:nvPr/>
        </p:nvSpPr>
        <p:spPr>
          <a:xfrm>
            <a:off x="411480" y="859536"/>
            <a:ext cx="8321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In a login system, the email must uniquely identify one user. That means we must not allow two user documents with the same email.</a:t>
            </a:r>
            <a:endParaRPr b="0" i="0" sz="1100" u="none" cap="none" strike="noStrike">
              <a:solidFill>
                <a:schemeClr val="dk1"/>
              </a:solidFill>
              <a:latin typeface="Calibri"/>
              <a:ea typeface="Calibri"/>
              <a:cs typeface="Calibri"/>
              <a:sym typeface="Calibri"/>
            </a:endParaRPr>
          </a:p>
        </p:txBody>
      </p:sp>
      <p:sp>
        <p:nvSpPr>
          <p:cNvPr id="522" name="Google Shape;522;p57"/>
          <p:cNvSpPr/>
          <p:nvPr/>
        </p:nvSpPr>
        <p:spPr>
          <a:xfrm>
            <a:off x="411480" y="156362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we enforce</a:t>
            </a:r>
            <a:endParaRPr b="0" i="0" sz="1300" u="none" cap="none" strike="noStrike">
              <a:solidFill>
                <a:schemeClr val="dk1"/>
              </a:solidFill>
              <a:latin typeface="Calibri"/>
              <a:ea typeface="Calibri"/>
              <a:cs typeface="Calibri"/>
              <a:sym typeface="Calibri"/>
            </a:endParaRPr>
          </a:p>
        </p:txBody>
      </p:sp>
      <p:sp>
        <p:nvSpPr>
          <p:cNvPr id="523" name="Google Shape;523;p57"/>
          <p:cNvSpPr/>
          <p:nvPr/>
        </p:nvSpPr>
        <p:spPr>
          <a:xfrm>
            <a:off x="411480" y="1837944"/>
            <a:ext cx="8321040" cy="64008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Create a unique index on email in the users collection.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If someone tries to create a second user with the same email, MongoDB rejects the write.</a:t>
            </a:r>
            <a:endParaRPr b="0" i="0" sz="1100" u="none" cap="none" strike="noStrike">
              <a:solidFill>
                <a:schemeClr val="dk1"/>
              </a:solidFill>
              <a:latin typeface="Calibri"/>
              <a:ea typeface="Calibri"/>
              <a:cs typeface="Calibri"/>
              <a:sym typeface="Calibri"/>
            </a:endParaRPr>
          </a:p>
        </p:txBody>
      </p:sp>
      <p:sp>
        <p:nvSpPr>
          <p:cNvPr id="524" name="Google Shape;524;p57"/>
          <p:cNvSpPr/>
          <p:nvPr/>
        </p:nvSpPr>
        <p:spPr>
          <a:xfrm>
            <a:off x="411480" y="255117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Why we enforce this in the database</a:t>
            </a:r>
            <a:endParaRPr b="0" i="0" sz="1300" u="none" cap="none" strike="noStrike">
              <a:solidFill>
                <a:schemeClr val="dk1"/>
              </a:solidFill>
              <a:latin typeface="Calibri"/>
              <a:ea typeface="Calibri"/>
              <a:cs typeface="Calibri"/>
              <a:sym typeface="Calibri"/>
            </a:endParaRPr>
          </a:p>
        </p:txBody>
      </p:sp>
      <p:sp>
        <p:nvSpPr>
          <p:cNvPr id="525" name="Google Shape;525;p57"/>
          <p:cNvSpPr/>
          <p:nvPr/>
        </p:nvSpPr>
        <p:spPr>
          <a:xfrm>
            <a:off x="411480" y="2825496"/>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Even if the API makes a mistake, the database rule still protects data integrity. This keeps login behavior consistent and predictable.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0" name="Shape 530"/>
        <p:cNvGrpSpPr/>
        <p:nvPr/>
      </p:nvGrpSpPr>
      <p:grpSpPr>
        <a:xfrm>
          <a:off x="0" y="0"/>
          <a:ext cx="0" cy="0"/>
          <a:chOff x="0" y="0"/>
          <a:chExt cx="0" cy="0"/>
        </a:xfrm>
      </p:grpSpPr>
      <p:sp>
        <p:nvSpPr>
          <p:cNvPr id="531" name="Google Shape;531;p58"/>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How User links to Student in our system</a:t>
            </a:r>
            <a:endParaRPr b="0" i="0" sz="2000" u="none" cap="none" strike="noStrike">
              <a:solidFill>
                <a:schemeClr val="dk1"/>
              </a:solidFill>
              <a:latin typeface="Calibri"/>
              <a:ea typeface="Calibri"/>
              <a:cs typeface="Calibri"/>
              <a:sym typeface="Calibri"/>
            </a:endParaRPr>
          </a:p>
        </p:txBody>
      </p:sp>
      <p:sp>
        <p:nvSpPr>
          <p:cNvPr id="532" name="Google Shape;532;p58"/>
          <p:cNvSpPr/>
          <p:nvPr/>
        </p:nvSpPr>
        <p:spPr>
          <a:xfrm>
            <a:off x="411480" y="859536"/>
            <a:ext cx="8321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We will keep Student and User separate and connect them using an id reference.</a:t>
            </a:r>
            <a:endParaRPr b="0" i="0" sz="1100" u="none" cap="none" strike="noStrike">
              <a:solidFill>
                <a:schemeClr val="dk1"/>
              </a:solidFill>
              <a:latin typeface="Calibri"/>
              <a:ea typeface="Calibri"/>
              <a:cs typeface="Calibri"/>
              <a:sym typeface="Calibri"/>
            </a:endParaRPr>
          </a:p>
        </p:txBody>
      </p:sp>
      <p:sp>
        <p:nvSpPr>
          <p:cNvPr id="533" name="Google Shape;533;p58"/>
          <p:cNvSpPr/>
          <p:nvPr/>
        </p:nvSpPr>
        <p:spPr>
          <a:xfrm>
            <a:off x="411480" y="142646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Recommended link</a:t>
            </a:r>
            <a:endParaRPr b="0" i="0" sz="1300" u="none" cap="none" strike="noStrike">
              <a:solidFill>
                <a:schemeClr val="dk1"/>
              </a:solidFill>
              <a:latin typeface="Calibri"/>
              <a:ea typeface="Calibri"/>
              <a:cs typeface="Calibri"/>
              <a:sym typeface="Calibri"/>
            </a:endParaRPr>
          </a:p>
        </p:txBody>
      </p:sp>
      <p:sp>
        <p:nvSpPr>
          <p:cNvPr id="534" name="Google Shape;534;p58"/>
          <p:cNvSpPr/>
          <p:nvPr/>
        </p:nvSpPr>
        <p:spPr>
          <a:xfrm>
            <a:off x="411480" y="1700784"/>
            <a:ext cx="8321040" cy="54864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Student stores userId.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User stays independent as the login identity record.</a:t>
            </a:r>
            <a:endParaRPr b="0" i="0" sz="1100" u="none" cap="none" strike="noStrike">
              <a:solidFill>
                <a:schemeClr val="dk1"/>
              </a:solidFill>
              <a:latin typeface="Calibri"/>
              <a:ea typeface="Calibri"/>
              <a:cs typeface="Calibri"/>
              <a:sym typeface="Calibri"/>
            </a:endParaRPr>
          </a:p>
        </p:txBody>
      </p:sp>
      <p:sp>
        <p:nvSpPr>
          <p:cNvPr id="535" name="Google Shape;535;p58"/>
          <p:cNvSpPr/>
          <p:nvPr/>
        </p:nvSpPr>
        <p:spPr>
          <a:xfrm>
            <a:off x="411480" y="232257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lang="en" sz="1300">
                <a:solidFill>
                  <a:srgbClr val="0B1F3B"/>
                </a:solidFill>
                <a:latin typeface="Calibri"/>
                <a:ea typeface="Calibri"/>
                <a:cs typeface="Calibri"/>
                <a:sym typeface="Calibri"/>
              </a:rPr>
              <a:t>Impact of this design</a:t>
            </a:r>
            <a:endParaRPr b="0" i="0" sz="1300" u="none" cap="none" strike="noStrike">
              <a:solidFill>
                <a:schemeClr val="dk1"/>
              </a:solidFill>
              <a:latin typeface="Calibri"/>
              <a:ea typeface="Calibri"/>
              <a:cs typeface="Calibri"/>
              <a:sym typeface="Calibri"/>
            </a:endParaRPr>
          </a:p>
        </p:txBody>
      </p:sp>
      <p:sp>
        <p:nvSpPr>
          <p:cNvPr id="536" name="Google Shape;536;p58"/>
          <p:cNvSpPr/>
          <p:nvPr/>
        </p:nvSpPr>
        <p:spPr>
          <a:xfrm>
            <a:off x="411480" y="2596896"/>
            <a:ext cx="8321040" cy="86868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One user can represent access even if the student profile changes.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You can later add other user types without changing Student heavily.</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Roles are owned by User, not by Student.</a:t>
            </a:r>
            <a:endParaRPr b="0" i="0" sz="1100" u="none" cap="none" strike="noStrike">
              <a:solidFill>
                <a:schemeClr val="dk1"/>
              </a:solidFill>
              <a:latin typeface="Calibri"/>
              <a:ea typeface="Calibri"/>
              <a:cs typeface="Calibri"/>
              <a:sym typeface="Calibri"/>
            </a:endParaRPr>
          </a:p>
        </p:txBody>
      </p:sp>
      <p:sp>
        <p:nvSpPr>
          <p:cNvPr id="537" name="Google Shape;537;p58"/>
          <p:cNvSpPr/>
          <p:nvPr/>
        </p:nvSpPr>
        <p:spPr>
          <a:xfrm>
            <a:off x="411480" y="3538728"/>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 student with a user link</a:t>
            </a:r>
            <a:endParaRPr b="0" i="0" sz="1300" u="none" cap="none" strike="noStrike">
              <a:solidFill>
                <a:schemeClr val="dk1"/>
              </a:solidFill>
              <a:latin typeface="Calibri"/>
              <a:ea typeface="Calibri"/>
              <a:cs typeface="Calibri"/>
              <a:sym typeface="Calibri"/>
            </a:endParaRPr>
          </a:p>
        </p:txBody>
      </p:sp>
      <p:sp>
        <p:nvSpPr>
          <p:cNvPr id="538" name="Google Shape;538;p58"/>
          <p:cNvSpPr/>
          <p:nvPr/>
        </p:nvSpPr>
        <p:spPr>
          <a:xfrm>
            <a:off x="411480" y="3813048"/>
            <a:ext cx="832104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"_id": "65b7f3b2a9c7e24e0f4e1a91",</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"name": "Kiran Pillai",</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"email": "kiran.p@gmail.com",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"active": true,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"userId": "65c0a13aa9c7e24e0f4e9012"</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3" name="Shape 543"/>
        <p:cNvGrpSpPr/>
        <p:nvPr/>
      </p:nvGrpSpPr>
      <p:grpSpPr>
        <a:xfrm>
          <a:off x="0" y="0"/>
          <a:ext cx="0" cy="0"/>
          <a:chOff x="0" y="0"/>
          <a:chExt cx="0" cy="0"/>
        </a:xfrm>
      </p:grpSpPr>
      <p:sp>
        <p:nvSpPr>
          <p:cNvPr id="544" name="Google Shape;544;p59"/>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How Spring Security </a:t>
            </a:r>
            <a:r>
              <a:rPr b="1" lang="en" sz="2000">
                <a:solidFill>
                  <a:srgbClr val="0B1F3B"/>
                </a:solidFill>
                <a:latin typeface="Calibri"/>
                <a:ea typeface="Calibri"/>
                <a:cs typeface="Calibri"/>
                <a:sym typeface="Calibri"/>
              </a:rPr>
              <a:t>will use our</a:t>
            </a:r>
            <a:r>
              <a:rPr b="1" i="0" lang="en" sz="2000" u="none" cap="none" strike="noStrike">
                <a:solidFill>
                  <a:srgbClr val="0B1F3B"/>
                </a:solidFill>
                <a:latin typeface="Calibri"/>
                <a:ea typeface="Calibri"/>
                <a:cs typeface="Calibri"/>
                <a:sym typeface="Calibri"/>
              </a:rPr>
              <a:t> DB-backed users</a:t>
            </a:r>
            <a:endParaRPr b="0" i="0" sz="2000" u="none" cap="none" strike="noStrike">
              <a:solidFill>
                <a:schemeClr val="dk1"/>
              </a:solidFill>
              <a:latin typeface="Calibri"/>
              <a:ea typeface="Calibri"/>
              <a:cs typeface="Calibri"/>
              <a:sym typeface="Calibri"/>
            </a:endParaRPr>
          </a:p>
        </p:txBody>
      </p:sp>
      <p:sp>
        <p:nvSpPr>
          <p:cNvPr id="545" name="Google Shape;545;p59"/>
          <p:cNvSpPr/>
          <p:nvPr/>
        </p:nvSpPr>
        <p:spPr>
          <a:xfrm>
            <a:off x="411480" y="859536"/>
            <a:ext cx="83210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When a request comes in with Basic authentication, Spring Security needs to load the user from MongoDB. </a:t>
            </a:r>
            <a:endParaRPr b="0" i="0" sz="1100" u="none" cap="none" strike="noStrike">
              <a:solidFill>
                <a:srgbClr val="1F2937"/>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That means our backend must provide a way to find a user by email and read roles.</a:t>
            </a:r>
            <a:endParaRPr b="0" i="0" sz="1100" u="none" cap="none" strike="noStrike">
              <a:solidFill>
                <a:schemeClr val="dk1"/>
              </a:solidFill>
              <a:latin typeface="Calibri"/>
              <a:ea typeface="Calibri"/>
              <a:cs typeface="Calibri"/>
              <a:sym typeface="Calibri"/>
            </a:endParaRPr>
          </a:p>
        </p:txBody>
      </p:sp>
      <p:sp>
        <p:nvSpPr>
          <p:cNvPr id="546" name="Google Shape;546;p59"/>
          <p:cNvSpPr/>
          <p:nvPr/>
        </p:nvSpPr>
        <p:spPr>
          <a:xfrm>
            <a:off x="411480" y="174650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happens at a high level</a:t>
            </a:r>
            <a:endParaRPr b="0" i="0" sz="1300" u="none" cap="none" strike="noStrike">
              <a:solidFill>
                <a:schemeClr val="dk1"/>
              </a:solidFill>
              <a:latin typeface="Calibri"/>
              <a:ea typeface="Calibri"/>
              <a:cs typeface="Calibri"/>
              <a:sym typeface="Calibri"/>
            </a:endParaRPr>
          </a:p>
        </p:txBody>
      </p:sp>
      <p:sp>
        <p:nvSpPr>
          <p:cNvPr id="547" name="Google Shape;547;p59"/>
          <p:cNvSpPr/>
          <p:nvPr/>
        </p:nvSpPr>
        <p:spPr>
          <a:xfrm>
            <a:off x="411480" y="2020824"/>
            <a:ext cx="8321040" cy="100584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Spring Security reads email and password from the request.</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Our code loads the user document using the email.</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Our code compares the incoming password with the stored passwordHash.</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Our code returns roles so authorization rules can be applied.</a:t>
            </a:r>
            <a:endParaRPr b="0" i="0" sz="1100" u="none" cap="none" strike="noStrike">
              <a:solidFill>
                <a:schemeClr val="dk1"/>
              </a:solidFill>
              <a:latin typeface="Calibri"/>
              <a:ea typeface="Calibri"/>
              <a:cs typeface="Calibri"/>
              <a:sym typeface="Calibri"/>
            </a:endParaRPr>
          </a:p>
        </p:txBody>
      </p:sp>
      <p:sp>
        <p:nvSpPr>
          <p:cNvPr id="548" name="Google Shape;548;p59"/>
          <p:cNvSpPr/>
          <p:nvPr/>
        </p:nvSpPr>
        <p:spPr>
          <a:xfrm>
            <a:off x="411480" y="309981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this enables</a:t>
            </a:r>
            <a:endParaRPr b="0" i="0" sz="1300" u="none" cap="none" strike="noStrike">
              <a:solidFill>
                <a:schemeClr val="dk1"/>
              </a:solidFill>
              <a:latin typeface="Calibri"/>
              <a:ea typeface="Calibri"/>
              <a:cs typeface="Calibri"/>
              <a:sym typeface="Calibri"/>
            </a:endParaRPr>
          </a:p>
        </p:txBody>
      </p:sp>
      <p:sp>
        <p:nvSpPr>
          <p:cNvPr id="549" name="Google Shape;549;p59"/>
          <p:cNvSpPr/>
          <p:nvPr/>
        </p:nvSpPr>
        <p:spPr>
          <a:xfrm>
            <a:off x="411480" y="3374136"/>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Once Spring Security can load users from MongoDB, we can protect endpoints and apply role rules consistently.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554" name="Shape 554"/>
        <p:cNvGrpSpPr/>
        <p:nvPr/>
      </p:nvGrpSpPr>
      <p:grpSpPr>
        <a:xfrm>
          <a:off x="0" y="0"/>
          <a:ext cx="0" cy="0"/>
          <a:chOff x="0" y="0"/>
          <a:chExt cx="0" cy="0"/>
        </a:xfrm>
      </p:grpSpPr>
      <p:sp>
        <p:nvSpPr>
          <p:cNvPr id="555" name="Google Shape;555;p60"/>
          <p:cNvSpPr/>
          <p:nvPr/>
        </p:nvSpPr>
        <p:spPr>
          <a:xfrm>
            <a:off x="0" y="0"/>
            <a:ext cx="9144000" cy="514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Signup and login flow</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0" name="Shape 560"/>
        <p:cNvGrpSpPr/>
        <p:nvPr/>
      </p:nvGrpSpPr>
      <p:grpSpPr>
        <a:xfrm>
          <a:off x="0" y="0"/>
          <a:ext cx="0" cy="0"/>
          <a:chOff x="0" y="0"/>
          <a:chExt cx="0" cy="0"/>
        </a:xfrm>
      </p:grpSpPr>
      <p:sp>
        <p:nvSpPr>
          <p:cNvPr id="561" name="Google Shape;561;p61"/>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What do</a:t>
            </a:r>
            <a:r>
              <a:rPr b="1" lang="en" sz="2000">
                <a:solidFill>
                  <a:srgbClr val="0B1F3B"/>
                </a:solidFill>
                <a:latin typeface="Calibri"/>
                <a:ea typeface="Calibri"/>
                <a:cs typeface="Calibri"/>
                <a:sym typeface="Calibri"/>
              </a:rPr>
              <a:t>es </a:t>
            </a:r>
            <a:r>
              <a:rPr b="1" i="0" lang="en" sz="2000" u="none" cap="none" strike="noStrike">
                <a:solidFill>
                  <a:srgbClr val="0B1F3B"/>
                </a:solidFill>
                <a:latin typeface="Calibri"/>
                <a:ea typeface="Calibri"/>
                <a:cs typeface="Calibri"/>
                <a:sym typeface="Calibri"/>
              </a:rPr>
              <a:t>signup means in our system?</a:t>
            </a:r>
            <a:endParaRPr b="0" i="0" sz="2000" u="none" cap="none" strike="noStrike">
              <a:solidFill>
                <a:schemeClr val="dk1"/>
              </a:solidFill>
              <a:latin typeface="Calibri"/>
              <a:ea typeface="Calibri"/>
              <a:cs typeface="Calibri"/>
              <a:sym typeface="Calibri"/>
            </a:endParaRPr>
          </a:p>
        </p:txBody>
      </p:sp>
      <p:sp>
        <p:nvSpPr>
          <p:cNvPr id="562" name="Google Shape;562;p61"/>
          <p:cNvSpPr/>
          <p:nvPr/>
        </p:nvSpPr>
        <p:spPr>
          <a:xfrm>
            <a:off x="411480" y="859536"/>
            <a:ext cx="8321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Signup is when we create a new user record in our database. After signup, the user can prove their identity and access protected endpoints.</a:t>
            </a:r>
            <a:endParaRPr b="0" i="0" sz="1100" u="none" cap="none" strike="noStrike">
              <a:solidFill>
                <a:schemeClr val="dk1"/>
              </a:solidFill>
              <a:latin typeface="Calibri"/>
              <a:ea typeface="Calibri"/>
              <a:cs typeface="Calibri"/>
              <a:sym typeface="Calibri"/>
            </a:endParaRPr>
          </a:p>
        </p:txBody>
      </p:sp>
      <p:sp>
        <p:nvSpPr>
          <p:cNvPr id="563" name="Google Shape;563;p61"/>
          <p:cNvSpPr/>
          <p:nvPr/>
        </p:nvSpPr>
        <p:spPr>
          <a:xfrm>
            <a:off x="411480" y="156362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we store for a new user</a:t>
            </a:r>
            <a:endParaRPr b="0" i="0" sz="1300" u="none" cap="none" strike="noStrike">
              <a:solidFill>
                <a:schemeClr val="dk1"/>
              </a:solidFill>
              <a:latin typeface="Calibri"/>
              <a:ea typeface="Calibri"/>
              <a:cs typeface="Calibri"/>
              <a:sym typeface="Calibri"/>
            </a:endParaRPr>
          </a:p>
        </p:txBody>
      </p:sp>
      <p:sp>
        <p:nvSpPr>
          <p:cNvPr id="564" name="Google Shape;564;p61"/>
          <p:cNvSpPr/>
          <p:nvPr/>
        </p:nvSpPr>
        <p:spPr>
          <a:xfrm>
            <a:off x="411480" y="1837944"/>
            <a:ext cx="8321040" cy="96012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Email as the identity.</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PasswordHash instead of the raw password.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Roles such as STUDENT or ADMIN.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Enabled flag so an account can be disabled later.</a:t>
            </a:r>
            <a:endParaRPr b="0" i="0" sz="1100" u="none" cap="none" strike="noStrike">
              <a:solidFill>
                <a:schemeClr val="dk1"/>
              </a:solidFill>
              <a:latin typeface="Calibri"/>
              <a:ea typeface="Calibri"/>
              <a:cs typeface="Calibri"/>
              <a:sym typeface="Calibri"/>
            </a:endParaRPr>
          </a:p>
        </p:txBody>
      </p:sp>
      <p:sp>
        <p:nvSpPr>
          <p:cNvPr id="565" name="Google Shape;565;p61"/>
          <p:cNvSpPr/>
          <p:nvPr/>
        </p:nvSpPr>
        <p:spPr>
          <a:xfrm>
            <a:off x="411480" y="287121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we validate at signup</a:t>
            </a:r>
            <a:endParaRPr b="0" i="0" sz="1300" u="none" cap="none" strike="noStrike">
              <a:solidFill>
                <a:schemeClr val="dk1"/>
              </a:solidFill>
              <a:latin typeface="Calibri"/>
              <a:ea typeface="Calibri"/>
              <a:cs typeface="Calibri"/>
              <a:sym typeface="Calibri"/>
            </a:endParaRPr>
          </a:p>
        </p:txBody>
      </p:sp>
      <p:sp>
        <p:nvSpPr>
          <p:cNvPr id="566" name="Google Shape;566;p61"/>
          <p:cNvSpPr/>
          <p:nvPr/>
        </p:nvSpPr>
        <p:spPr>
          <a:xfrm>
            <a:off x="411480" y="3145536"/>
            <a:ext cx="8321040" cy="77724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Email is present and looks like an email.</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Password is present and meets basic length rules.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Email is unique in the users collection.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1" name="Shape 571"/>
        <p:cNvGrpSpPr/>
        <p:nvPr/>
      </p:nvGrpSpPr>
      <p:grpSpPr>
        <a:xfrm>
          <a:off x="0" y="0"/>
          <a:ext cx="0" cy="0"/>
          <a:chOff x="0" y="0"/>
          <a:chExt cx="0" cy="0"/>
        </a:xfrm>
      </p:grpSpPr>
      <p:sp>
        <p:nvSpPr>
          <p:cNvPr id="572" name="Google Shape;572;p62"/>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Password hash and why we use it</a:t>
            </a:r>
            <a:endParaRPr b="0" i="0" sz="2000" u="none" cap="none" strike="noStrike">
              <a:solidFill>
                <a:schemeClr val="dk1"/>
              </a:solidFill>
              <a:latin typeface="Calibri"/>
              <a:ea typeface="Calibri"/>
              <a:cs typeface="Calibri"/>
              <a:sym typeface="Calibri"/>
            </a:endParaRPr>
          </a:p>
        </p:txBody>
      </p:sp>
      <p:sp>
        <p:nvSpPr>
          <p:cNvPr id="573" name="Google Shape;573;p62"/>
          <p:cNvSpPr/>
          <p:nvPr/>
        </p:nvSpPr>
        <p:spPr>
          <a:xfrm>
            <a:off x="411480" y="707768"/>
            <a:ext cx="83211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 password hash is a transformed version of the password that we store instead of the real password. The goal is simple. Even if someone reads the database, they should not be able to see the real passwords.</a:t>
            </a:r>
            <a:endParaRPr b="0" i="0" sz="1100" u="none" cap="none" strike="noStrike">
              <a:solidFill>
                <a:schemeClr val="dk1"/>
              </a:solidFill>
              <a:latin typeface="Calibri"/>
              <a:ea typeface="Calibri"/>
              <a:cs typeface="Calibri"/>
              <a:sym typeface="Calibri"/>
            </a:endParaRPr>
          </a:p>
        </p:txBody>
      </p:sp>
      <p:sp>
        <p:nvSpPr>
          <p:cNvPr id="574" name="Google Shape;574;p62"/>
          <p:cNvSpPr/>
          <p:nvPr/>
        </p:nvSpPr>
        <p:spPr>
          <a:xfrm>
            <a:off x="411480" y="1393834"/>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A simple way to think about it</a:t>
            </a:r>
            <a:endParaRPr b="0" i="0" sz="1300" u="none" cap="none" strike="noStrike">
              <a:solidFill>
                <a:schemeClr val="dk1"/>
              </a:solidFill>
              <a:latin typeface="Calibri"/>
              <a:ea typeface="Calibri"/>
              <a:cs typeface="Calibri"/>
              <a:sym typeface="Calibri"/>
            </a:endParaRPr>
          </a:p>
        </p:txBody>
      </p:sp>
      <p:sp>
        <p:nvSpPr>
          <p:cNvPr id="575" name="Google Shape;575;p62"/>
          <p:cNvSpPr/>
          <p:nvPr/>
        </p:nvSpPr>
        <p:spPr>
          <a:xfrm>
            <a:off x="411480" y="1601756"/>
            <a:ext cx="83211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If the password is "Tiger123", we never store "Tiger123"</a:t>
            </a:r>
            <a:endParaRPr b="0" i="0" sz="1100" u="none" cap="none" strike="noStrike">
              <a:solidFill>
                <a:srgbClr val="1F2937"/>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Instead, </a:t>
            </a:r>
            <a:r>
              <a:rPr lang="en" sz="1100">
                <a:solidFill>
                  <a:srgbClr val="1F2937"/>
                </a:solidFill>
                <a:latin typeface="Calibri"/>
                <a:ea typeface="Calibri"/>
                <a:cs typeface="Calibri"/>
                <a:sym typeface="Calibri"/>
              </a:rPr>
              <a:t>w</a:t>
            </a:r>
            <a:r>
              <a:rPr b="0" i="0" lang="en" sz="1100" u="none" cap="none" strike="noStrike">
                <a:solidFill>
                  <a:srgbClr val="1F2937"/>
                </a:solidFill>
                <a:latin typeface="Calibri"/>
                <a:ea typeface="Calibri"/>
                <a:cs typeface="Calibri"/>
                <a:sym typeface="Calibri"/>
              </a:rPr>
              <a:t>e store something that looks like random text, which came from running a hashing function.</a:t>
            </a:r>
            <a:endParaRPr b="0" i="0" sz="1100" u="none" cap="none" strike="noStrike">
              <a:solidFill>
                <a:schemeClr val="dk1"/>
              </a:solidFill>
              <a:latin typeface="Calibri"/>
              <a:ea typeface="Calibri"/>
              <a:cs typeface="Calibri"/>
              <a:sym typeface="Calibri"/>
            </a:endParaRPr>
          </a:p>
        </p:txBody>
      </p:sp>
      <p:sp>
        <p:nvSpPr>
          <p:cNvPr id="576" name="Google Shape;576;p62"/>
          <p:cNvSpPr/>
          <p:nvPr/>
        </p:nvSpPr>
        <p:spPr>
          <a:xfrm>
            <a:off x="411455" y="2240608"/>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 of what a stored user record looks like</a:t>
            </a:r>
            <a:endParaRPr b="0" i="0" sz="1300" u="none" cap="none" strike="noStrike">
              <a:solidFill>
                <a:schemeClr val="dk1"/>
              </a:solidFill>
              <a:latin typeface="Calibri"/>
              <a:ea typeface="Calibri"/>
              <a:cs typeface="Calibri"/>
              <a:sym typeface="Calibri"/>
            </a:endParaRPr>
          </a:p>
        </p:txBody>
      </p:sp>
      <p:sp>
        <p:nvSpPr>
          <p:cNvPr id="577" name="Google Shape;577;p62"/>
          <p:cNvSpPr/>
          <p:nvPr/>
        </p:nvSpPr>
        <p:spPr>
          <a:xfrm>
            <a:off x="411455" y="2561596"/>
            <a:ext cx="83211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"email": "kiran.p@gmail.com",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"passwordHash": "5f4dcc3b5aa765d61d8327deb882cf99",</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"roles": ["STUDENT"],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  "enabled": true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a:t>
            </a:r>
            <a:endParaRPr b="0" i="0" sz="1100" u="none" cap="none" strike="noStrike">
              <a:solidFill>
                <a:schemeClr val="dk1"/>
              </a:solidFill>
              <a:latin typeface="Calibri"/>
              <a:ea typeface="Calibri"/>
              <a:cs typeface="Calibri"/>
              <a:sym typeface="Calibri"/>
            </a:endParaRPr>
          </a:p>
        </p:txBody>
      </p:sp>
      <p:sp>
        <p:nvSpPr>
          <p:cNvPr id="578" name="Google Shape;578;p62"/>
          <p:cNvSpPr/>
          <p:nvPr/>
        </p:nvSpPr>
        <p:spPr>
          <a:xfrm>
            <a:off x="411455" y="3814324"/>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happens during login</a:t>
            </a:r>
            <a:endParaRPr b="0" i="0" sz="1300" u="none" cap="none" strike="noStrike">
              <a:solidFill>
                <a:schemeClr val="dk1"/>
              </a:solidFill>
              <a:latin typeface="Calibri"/>
              <a:ea typeface="Calibri"/>
              <a:cs typeface="Calibri"/>
              <a:sym typeface="Calibri"/>
            </a:endParaRPr>
          </a:p>
        </p:txBody>
      </p:sp>
      <p:sp>
        <p:nvSpPr>
          <p:cNvPr id="579" name="Google Shape;579;p62"/>
          <p:cNvSpPr/>
          <p:nvPr/>
        </p:nvSpPr>
        <p:spPr>
          <a:xfrm>
            <a:off x="411455" y="4088644"/>
            <a:ext cx="8321100" cy="9600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user types a password.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server runs the same hashing step on the typed password.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server compares the result with the stored passwordHash.</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If they match, the password is correct.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4" name="Shape 584"/>
        <p:cNvGrpSpPr/>
        <p:nvPr/>
      </p:nvGrpSpPr>
      <p:grpSpPr>
        <a:xfrm>
          <a:off x="0" y="0"/>
          <a:ext cx="0" cy="0"/>
          <a:chOff x="0" y="0"/>
          <a:chExt cx="0" cy="0"/>
        </a:xfrm>
      </p:grpSpPr>
      <p:sp>
        <p:nvSpPr>
          <p:cNvPr id="585" name="Google Shape;585;p63"/>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Login meaning in Basic authentication</a:t>
            </a:r>
            <a:endParaRPr b="0" i="0" sz="2000" u="none" cap="none" strike="noStrike">
              <a:solidFill>
                <a:schemeClr val="dk1"/>
              </a:solidFill>
              <a:latin typeface="Calibri"/>
              <a:ea typeface="Calibri"/>
              <a:cs typeface="Calibri"/>
              <a:sym typeface="Calibri"/>
            </a:endParaRPr>
          </a:p>
        </p:txBody>
      </p:sp>
      <p:sp>
        <p:nvSpPr>
          <p:cNvPr id="586" name="Google Shape;586;p63"/>
          <p:cNvSpPr/>
          <p:nvPr/>
        </p:nvSpPr>
        <p:spPr>
          <a:xfrm>
            <a:off x="411480" y="859536"/>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With Basic authentication, the client sends credentials on every protected request. </a:t>
            </a:r>
            <a:endParaRPr b="0" i="0" sz="1100" u="none" cap="none" strike="noStrike">
              <a:solidFill>
                <a:srgbClr val="1F2937"/>
              </a:solidFill>
              <a:latin typeface="Calibri"/>
              <a:ea typeface="Calibri"/>
              <a:cs typeface="Calibri"/>
              <a:sym typeface="Calibri"/>
            </a:endParaRPr>
          </a:p>
          <a:p>
            <a:pPr indent="0" lvl="0" marL="0" marR="0" rtl="0" algn="l">
              <a:spcBef>
                <a:spcPts val="0"/>
              </a:spcBef>
              <a:spcAft>
                <a:spcPts val="0"/>
              </a:spcAft>
              <a:buClr>
                <a:srgbClr val="1F2937"/>
              </a:buClr>
              <a:buSzPts val="1100"/>
              <a:buFont typeface="Calibri"/>
              <a:buNone/>
            </a:pPr>
            <a:r>
              <a:rPr lang="en" sz="1100">
                <a:solidFill>
                  <a:srgbClr val="1F2937"/>
                </a:solidFill>
                <a:latin typeface="Calibri"/>
                <a:ea typeface="Calibri"/>
                <a:cs typeface="Calibri"/>
                <a:sym typeface="Calibri"/>
              </a:rPr>
              <a:t>The server will not store any information to allow a user to bypass authentication in subsequent requests.</a:t>
            </a:r>
            <a:endParaRPr b="0" i="0" sz="1100" u="none" cap="none" strike="noStrike">
              <a:solidFill>
                <a:schemeClr val="dk1"/>
              </a:solidFill>
              <a:latin typeface="Calibri"/>
              <a:ea typeface="Calibri"/>
              <a:cs typeface="Calibri"/>
              <a:sym typeface="Calibri"/>
            </a:endParaRPr>
          </a:p>
        </p:txBody>
      </p:sp>
      <p:sp>
        <p:nvSpPr>
          <p:cNvPr id="587" name="Google Shape;587;p63"/>
          <p:cNvSpPr/>
          <p:nvPr/>
        </p:nvSpPr>
        <p:spPr>
          <a:xfrm>
            <a:off x="411480" y="16093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the server does on a protected request</a:t>
            </a:r>
            <a:endParaRPr b="0" i="0" sz="1300" u="none" cap="none" strike="noStrike">
              <a:solidFill>
                <a:schemeClr val="dk1"/>
              </a:solidFill>
              <a:latin typeface="Calibri"/>
              <a:ea typeface="Calibri"/>
              <a:cs typeface="Calibri"/>
              <a:sym typeface="Calibri"/>
            </a:endParaRPr>
          </a:p>
        </p:txBody>
      </p:sp>
      <p:sp>
        <p:nvSpPr>
          <p:cNvPr id="588" name="Google Shape;588;p63"/>
          <p:cNvSpPr/>
          <p:nvPr/>
        </p:nvSpPr>
        <p:spPr>
          <a:xfrm>
            <a:off x="411480" y="1883664"/>
            <a:ext cx="8321040" cy="96012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Loads the user by email from the database.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Hashes the incoming password.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Compares it with the stored passwordHash.</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Loads roles for the user and applies endpoint rules.</a:t>
            </a:r>
            <a:endParaRPr b="0" i="0" sz="1100" u="none" cap="none" strike="noStrike">
              <a:solidFill>
                <a:schemeClr val="dk1"/>
              </a:solidFill>
              <a:latin typeface="Calibri"/>
              <a:ea typeface="Calibri"/>
              <a:cs typeface="Calibri"/>
              <a:sym typeface="Calibri"/>
            </a:endParaRPr>
          </a:p>
        </p:txBody>
      </p:sp>
      <p:sp>
        <p:nvSpPr>
          <p:cNvPr id="589" name="Google Shape;589;p63"/>
          <p:cNvSpPr/>
          <p:nvPr/>
        </p:nvSpPr>
        <p:spPr>
          <a:xfrm>
            <a:off x="411480" y="291693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the client sees</a:t>
            </a:r>
            <a:endParaRPr b="0" i="0" sz="1300" u="none" cap="none" strike="noStrike">
              <a:solidFill>
                <a:schemeClr val="dk1"/>
              </a:solidFill>
              <a:latin typeface="Calibri"/>
              <a:ea typeface="Calibri"/>
              <a:cs typeface="Calibri"/>
              <a:sym typeface="Calibri"/>
            </a:endParaRPr>
          </a:p>
        </p:txBody>
      </p:sp>
      <p:sp>
        <p:nvSpPr>
          <p:cNvPr id="590" name="Google Shape;590;p63"/>
          <p:cNvSpPr/>
          <p:nvPr/>
        </p:nvSpPr>
        <p:spPr>
          <a:xfrm>
            <a:off x="411480" y="3191256"/>
            <a:ext cx="8321040" cy="50292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Correct credentials lead to success.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Wrong credentials lead to 401.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p64"/>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A simple endpoint to confirm the logged-in user</a:t>
            </a:r>
            <a:endParaRPr b="0" i="0" sz="2000" u="none" cap="none" strike="noStrike">
              <a:solidFill>
                <a:schemeClr val="dk1"/>
              </a:solidFill>
              <a:latin typeface="Calibri"/>
              <a:ea typeface="Calibri"/>
              <a:cs typeface="Calibri"/>
              <a:sym typeface="Calibri"/>
            </a:endParaRPr>
          </a:p>
        </p:txBody>
      </p:sp>
      <p:sp>
        <p:nvSpPr>
          <p:cNvPr id="597" name="Google Shape;597;p64"/>
          <p:cNvSpPr/>
          <p:nvPr/>
        </p:nvSpPr>
        <p:spPr>
          <a:xfrm>
            <a:off x="411480" y="859536"/>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We can add one endpoint that returns the current user identity and roles.</a:t>
            </a:r>
            <a:endParaRPr b="0" i="0" sz="1100" u="none" cap="none" strike="noStrike">
              <a:solidFill>
                <a:schemeClr val="dk1"/>
              </a:solidFill>
              <a:latin typeface="Calibri"/>
              <a:ea typeface="Calibri"/>
              <a:cs typeface="Calibri"/>
              <a:sym typeface="Calibri"/>
            </a:endParaRPr>
          </a:p>
        </p:txBody>
      </p:sp>
      <p:sp>
        <p:nvSpPr>
          <p:cNvPr id="598" name="Google Shape;598;p64"/>
          <p:cNvSpPr/>
          <p:nvPr/>
        </p:nvSpPr>
        <p:spPr>
          <a:xfrm>
            <a:off x="411480" y="1271019"/>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a:t>
            </a:r>
            <a:endParaRPr b="0" i="0" sz="1300" u="none" cap="none" strike="noStrike">
              <a:solidFill>
                <a:schemeClr val="dk1"/>
              </a:solidFill>
              <a:latin typeface="Calibri"/>
              <a:ea typeface="Calibri"/>
              <a:cs typeface="Calibri"/>
              <a:sym typeface="Calibri"/>
            </a:endParaRPr>
          </a:p>
        </p:txBody>
      </p:sp>
      <p:sp>
        <p:nvSpPr>
          <p:cNvPr id="599" name="Google Shape;599;p64"/>
          <p:cNvSpPr/>
          <p:nvPr/>
        </p:nvSpPr>
        <p:spPr>
          <a:xfrm>
            <a:off x="411480" y="1545339"/>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600" name="Google Shape;600;p64"/>
          <p:cNvSpPr/>
          <p:nvPr/>
        </p:nvSpPr>
        <p:spPr>
          <a:xfrm>
            <a:off x="411480" y="1819659"/>
            <a:ext cx="83211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onsolas"/>
              <a:buNone/>
            </a:pPr>
            <a:r>
              <a:rPr b="0" i="0" lang="en" sz="1100" u="none" cap="none" strike="noStrike">
                <a:solidFill>
                  <a:srgbClr val="1F2937"/>
                </a:solidFill>
                <a:latin typeface="Consolas"/>
                <a:ea typeface="Consolas"/>
                <a:cs typeface="Consolas"/>
                <a:sym typeface="Consolas"/>
              </a:rPr>
              <a:t>GET /api/me</a:t>
            </a:r>
            <a:endParaRPr b="0" i="0" sz="1100" u="none" cap="none" strike="noStrike">
              <a:solidFill>
                <a:schemeClr val="dk1"/>
              </a:solidFill>
              <a:latin typeface="Calibri"/>
              <a:ea typeface="Calibri"/>
              <a:cs typeface="Calibri"/>
              <a:sym typeface="Calibri"/>
            </a:endParaRPr>
          </a:p>
        </p:txBody>
      </p:sp>
      <p:sp>
        <p:nvSpPr>
          <p:cNvPr id="601" name="Google Shape;601;p64"/>
          <p:cNvSpPr/>
          <p:nvPr/>
        </p:nvSpPr>
        <p:spPr>
          <a:xfrm>
            <a:off x="411480" y="2157987"/>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it should return</a:t>
            </a:r>
            <a:endParaRPr b="0" i="0" sz="1300" u="none" cap="none" strike="noStrike">
              <a:solidFill>
                <a:schemeClr val="dk1"/>
              </a:solidFill>
              <a:latin typeface="Calibri"/>
              <a:ea typeface="Calibri"/>
              <a:cs typeface="Calibri"/>
              <a:sym typeface="Calibri"/>
            </a:endParaRPr>
          </a:p>
        </p:txBody>
      </p:sp>
      <p:sp>
        <p:nvSpPr>
          <p:cNvPr id="602" name="Google Shape;602;p64"/>
          <p:cNvSpPr/>
          <p:nvPr/>
        </p:nvSpPr>
        <p:spPr>
          <a:xfrm>
            <a:off x="411480" y="2432307"/>
            <a:ext cx="8321100" cy="5028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current user email.</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Roles for the current user.</a:t>
            </a:r>
            <a:endParaRPr b="0" i="0" sz="1100" u="none" cap="none" strike="noStrike">
              <a:solidFill>
                <a:schemeClr val="dk1"/>
              </a:solidFill>
              <a:latin typeface="Calibri"/>
              <a:ea typeface="Calibri"/>
              <a:cs typeface="Calibri"/>
              <a:sym typeface="Calibri"/>
            </a:endParaRPr>
          </a:p>
        </p:txBody>
      </p:sp>
      <p:sp>
        <p:nvSpPr>
          <p:cNvPr id="603" name="Google Shape;603;p64"/>
          <p:cNvSpPr/>
          <p:nvPr/>
        </p:nvSpPr>
        <p:spPr>
          <a:xfrm>
            <a:off x="411480" y="3008379"/>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Why this is useful</a:t>
            </a:r>
            <a:endParaRPr b="0" i="0" sz="1300" u="none" cap="none" strike="noStrike">
              <a:solidFill>
                <a:schemeClr val="dk1"/>
              </a:solidFill>
              <a:latin typeface="Calibri"/>
              <a:ea typeface="Calibri"/>
              <a:cs typeface="Calibri"/>
              <a:sym typeface="Calibri"/>
            </a:endParaRPr>
          </a:p>
        </p:txBody>
      </p:sp>
      <p:sp>
        <p:nvSpPr>
          <p:cNvPr id="604" name="Google Shape;604;p64"/>
          <p:cNvSpPr/>
          <p:nvPr/>
        </p:nvSpPr>
        <p:spPr>
          <a:xfrm>
            <a:off x="411480" y="3282699"/>
            <a:ext cx="8321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It helps us confirm that authentication works and that roles are being loaded correctly.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609" name="Shape 609"/>
        <p:cNvGrpSpPr/>
        <p:nvPr/>
      </p:nvGrpSpPr>
      <p:grpSpPr>
        <a:xfrm>
          <a:off x="0" y="0"/>
          <a:ext cx="0" cy="0"/>
          <a:chOff x="0" y="0"/>
          <a:chExt cx="0" cy="0"/>
        </a:xfrm>
      </p:grpSpPr>
      <p:sp>
        <p:nvSpPr>
          <p:cNvPr id="610" name="Google Shape;610;p65"/>
          <p:cNvSpPr/>
          <p:nvPr/>
        </p:nvSpPr>
        <p:spPr>
          <a:xfrm>
            <a:off x="0" y="0"/>
            <a:ext cx="9144000" cy="514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Authorization and protected routes</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5" name="Shape 615"/>
        <p:cNvGrpSpPr/>
        <p:nvPr/>
      </p:nvGrpSpPr>
      <p:grpSpPr>
        <a:xfrm>
          <a:off x="0" y="0"/>
          <a:ext cx="0" cy="0"/>
          <a:chOff x="0" y="0"/>
          <a:chExt cx="0" cy="0"/>
        </a:xfrm>
      </p:grpSpPr>
      <p:sp>
        <p:nvSpPr>
          <p:cNvPr id="616" name="Google Shape;616;p66"/>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What a protected route means</a:t>
            </a:r>
            <a:endParaRPr b="0" i="0" sz="2000" u="none" cap="none" strike="noStrike">
              <a:solidFill>
                <a:schemeClr val="dk1"/>
              </a:solidFill>
              <a:latin typeface="Calibri"/>
              <a:ea typeface="Calibri"/>
              <a:cs typeface="Calibri"/>
              <a:sym typeface="Calibri"/>
            </a:endParaRPr>
          </a:p>
        </p:txBody>
      </p:sp>
      <p:sp>
        <p:nvSpPr>
          <p:cNvPr id="617" name="Google Shape;617;p66"/>
          <p:cNvSpPr/>
          <p:nvPr/>
        </p:nvSpPr>
        <p:spPr>
          <a:xfrm>
            <a:off x="411480" y="859536"/>
            <a:ext cx="8321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 protected route is an endpoint that should not be accessible to everyone. The server blocks the request unless the caller is authenticated.</a:t>
            </a:r>
            <a:endParaRPr b="0" i="0" sz="1100" u="none" cap="none" strike="noStrike">
              <a:solidFill>
                <a:schemeClr val="dk1"/>
              </a:solidFill>
              <a:latin typeface="Calibri"/>
              <a:ea typeface="Calibri"/>
              <a:cs typeface="Calibri"/>
              <a:sym typeface="Calibri"/>
            </a:endParaRPr>
          </a:p>
        </p:txBody>
      </p:sp>
      <p:sp>
        <p:nvSpPr>
          <p:cNvPr id="618" name="Google Shape;618;p66"/>
          <p:cNvSpPr/>
          <p:nvPr/>
        </p:nvSpPr>
        <p:spPr>
          <a:xfrm>
            <a:off x="411480" y="1499619"/>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Examples</a:t>
            </a:r>
            <a:endParaRPr b="0" i="0" sz="1300" u="none" cap="none" strike="noStrike">
              <a:solidFill>
                <a:schemeClr val="dk1"/>
              </a:solidFill>
              <a:latin typeface="Calibri"/>
              <a:ea typeface="Calibri"/>
              <a:cs typeface="Calibri"/>
              <a:sym typeface="Calibri"/>
            </a:endParaRPr>
          </a:p>
        </p:txBody>
      </p:sp>
      <p:sp>
        <p:nvSpPr>
          <p:cNvPr id="619" name="Google Shape;619;p66"/>
          <p:cNvSpPr/>
          <p:nvPr/>
        </p:nvSpPr>
        <p:spPr>
          <a:xfrm>
            <a:off x="411480" y="1773939"/>
            <a:ext cx="8321100" cy="7773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POST /api/courses should not be public.</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DELETE /api/courses/{id} should not be public.</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GET /api/students should not be public if it exposes all students.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4" name="Shape 624"/>
        <p:cNvGrpSpPr/>
        <p:nvPr/>
      </p:nvGrpSpPr>
      <p:grpSpPr>
        <a:xfrm>
          <a:off x="0" y="0"/>
          <a:ext cx="0" cy="0"/>
          <a:chOff x="0" y="0"/>
          <a:chExt cx="0" cy="0"/>
        </a:xfrm>
      </p:grpSpPr>
      <p:sp>
        <p:nvSpPr>
          <p:cNvPr id="625" name="Google Shape;625;p67"/>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Role-based access in our project</a:t>
            </a:r>
            <a:endParaRPr b="0" i="0" sz="2000" u="none" cap="none" strike="noStrike">
              <a:solidFill>
                <a:schemeClr val="dk1"/>
              </a:solidFill>
              <a:latin typeface="Calibri"/>
              <a:ea typeface="Calibri"/>
              <a:cs typeface="Calibri"/>
              <a:sym typeface="Calibri"/>
            </a:endParaRPr>
          </a:p>
        </p:txBody>
      </p:sp>
      <p:sp>
        <p:nvSpPr>
          <p:cNvPr id="626" name="Google Shape;626;p67"/>
          <p:cNvSpPr/>
          <p:nvPr/>
        </p:nvSpPr>
        <p:spPr>
          <a:xfrm>
            <a:off x="411480" y="859536"/>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After a user is authenticated, we decide what they are allowed to do using roles.</a:t>
            </a:r>
            <a:endParaRPr b="0" i="0" sz="1100" u="none" cap="none" strike="noStrike">
              <a:solidFill>
                <a:schemeClr val="dk1"/>
              </a:solidFill>
              <a:latin typeface="Calibri"/>
              <a:ea typeface="Calibri"/>
              <a:cs typeface="Calibri"/>
              <a:sym typeface="Calibri"/>
            </a:endParaRPr>
          </a:p>
        </p:txBody>
      </p:sp>
      <p:sp>
        <p:nvSpPr>
          <p:cNvPr id="627" name="Google Shape;627;p67"/>
          <p:cNvSpPr/>
          <p:nvPr/>
        </p:nvSpPr>
        <p:spPr>
          <a:xfrm>
            <a:off x="411480" y="13807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A simple starting rule set</a:t>
            </a:r>
            <a:endParaRPr b="0" i="0" sz="1300" u="none" cap="none" strike="noStrike">
              <a:solidFill>
                <a:schemeClr val="dk1"/>
              </a:solidFill>
              <a:latin typeface="Calibri"/>
              <a:ea typeface="Calibri"/>
              <a:cs typeface="Calibri"/>
              <a:sym typeface="Calibri"/>
            </a:endParaRPr>
          </a:p>
        </p:txBody>
      </p:sp>
      <p:sp>
        <p:nvSpPr>
          <p:cNvPr id="628" name="Google Shape;628;p67"/>
          <p:cNvSpPr/>
          <p:nvPr/>
        </p:nvSpPr>
        <p:spPr>
          <a:xfrm>
            <a:off x="411480" y="1655064"/>
            <a:ext cx="8321100" cy="9600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STUDENT can read their own student profile.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STUDENT can create an enrollment for themselves.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ADMIN can create and delete courses.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ADMIN can view all students.</a:t>
            </a:r>
            <a:endParaRPr b="0" i="0" sz="1100" u="none" cap="none" strike="noStrike">
              <a:solidFill>
                <a:schemeClr val="dk1"/>
              </a:solidFill>
              <a:latin typeface="Calibri"/>
              <a:ea typeface="Calibri"/>
              <a:cs typeface="Calibri"/>
              <a:sym typeface="Calibri"/>
            </a:endParaRPr>
          </a:p>
        </p:txBody>
      </p:sp>
      <p:sp>
        <p:nvSpPr>
          <p:cNvPr id="629" name="Google Shape;629;p67"/>
          <p:cNvSpPr/>
          <p:nvPr/>
        </p:nvSpPr>
        <p:spPr>
          <a:xfrm>
            <a:off x="411480" y="268833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Why roles help</a:t>
            </a:r>
            <a:endParaRPr b="0" i="0" sz="1300" u="none" cap="none" strike="noStrike">
              <a:solidFill>
                <a:schemeClr val="dk1"/>
              </a:solidFill>
              <a:latin typeface="Calibri"/>
              <a:ea typeface="Calibri"/>
              <a:cs typeface="Calibri"/>
              <a:sym typeface="Calibri"/>
            </a:endParaRPr>
          </a:p>
        </p:txBody>
      </p:sp>
      <p:sp>
        <p:nvSpPr>
          <p:cNvPr id="630" name="Google Shape;630;p67"/>
          <p:cNvSpPr/>
          <p:nvPr/>
        </p:nvSpPr>
        <p:spPr>
          <a:xfrm>
            <a:off x="411480" y="2962656"/>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Roles let us express security rules clearly without writing custom checks inside every controller method.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5" name="Shape 635"/>
        <p:cNvGrpSpPr/>
        <p:nvPr/>
      </p:nvGrpSpPr>
      <p:grpSpPr>
        <a:xfrm>
          <a:off x="0" y="0"/>
          <a:ext cx="0" cy="0"/>
          <a:chOff x="0" y="0"/>
          <a:chExt cx="0" cy="0"/>
        </a:xfrm>
      </p:grpSpPr>
      <p:sp>
        <p:nvSpPr>
          <p:cNvPr id="636" name="Google Shape;636;p68"/>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Concrete examples using our endpoints</a:t>
            </a:r>
            <a:endParaRPr b="0" i="0" sz="2000" u="none" cap="none" strike="noStrike">
              <a:solidFill>
                <a:schemeClr val="dk1"/>
              </a:solidFill>
              <a:latin typeface="Calibri"/>
              <a:ea typeface="Calibri"/>
              <a:cs typeface="Calibri"/>
              <a:sym typeface="Calibri"/>
            </a:endParaRPr>
          </a:p>
        </p:txBody>
      </p:sp>
      <p:sp>
        <p:nvSpPr>
          <p:cNvPr id="637" name="Google Shape;637;p68"/>
          <p:cNvSpPr/>
          <p:nvPr/>
        </p:nvSpPr>
        <p:spPr>
          <a:xfrm>
            <a:off x="411480" y="859536"/>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We will map rules to endpoints so it is easy to apply in code later.</a:t>
            </a:r>
            <a:endParaRPr b="0" i="0" sz="1100" u="none" cap="none" strike="noStrike">
              <a:solidFill>
                <a:schemeClr val="dk1"/>
              </a:solidFill>
              <a:latin typeface="Calibri"/>
              <a:ea typeface="Calibri"/>
              <a:cs typeface="Calibri"/>
              <a:sym typeface="Calibri"/>
            </a:endParaRPr>
          </a:p>
        </p:txBody>
      </p:sp>
      <p:sp>
        <p:nvSpPr>
          <p:cNvPr id="638" name="Google Shape;638;p68"/>
          <p:cNvSpPr/>
          <p:nvPr/>
        </p:nvSpPr>
        <p:spPr>
          <a:xfrm>
            <a:off x="411480" y="138074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Course endpoints</a:t>
            </a:r>
            <a:endParaRPr b="0" i="0" sz="1300" u="none" cap="none" strike="noStrike">
              <a:solidFill>
                <a:schemeClr val="dk1"/>
              </a:solidFill>
              <a:latin typeface="Calibri"/>
              <a:ea typeface="Calibri"/>
              <a:cs typeface="Calibri"/>
              <a:sym typeface="Calibri"/>
            </a:endParaRPr>
          </a:p>
        </p:txBody>
      </p:sp>
      <p:sp>
        <p:nvSpPr>
          <p:cNvPr id="639" name="Google Shape;639;p68"/>
          <p:cNvSpPr/>
          <p:nvPr/>
        </p:nvSpPr>
        <p:spPr>
          <a:xfrm>
            <a:off x="411480" y="1655064"/>
            <a:ext cx="8321040" cy="73152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POST /api/courses requires ADMIN.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DELETE /api/courses/{id} requires ADMIN.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GET /api/courses can be allowed for both STUDENT and ADMIN.</a:t>
            </a:r>
            <a:endParaRPr b="0" i="0" sz="1100" u="none" cap="none" strike="noStrike">
              <a:solidFill>
                <a:schemeClr val="dk1"/>
              </a:solidFill>
              <a:latin typeface="Calibri"/>
              <a:ea typeface="Calibri"/>
              <a:cs typeface="Calibri"/>
              <a:sym typeface="Calibri"/>
            </a:endParaRPr>
          </a:p>
        </p:txBody>
      </p:sp>
      <p:sp>
        <p:nvSpPr>
          <p:cNvPr id="640" name="Google Shape;640;p68"/>
          <p:cNvSpPr/>
          <p:nvPr/>
        </p:nvSpPr>
        <p:spPr>
          <a:xfrm>
            <a:off x="411480" y="245973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Student endpoints</a:t>
            </a:r>
            <a:endParaRPr b="0" i="0" sz="1300" u="none" cap="none" strike="noStrike">
              <a:solidFill>
                <a:schemeClr val="dk1"/>
              </a:solidFill>
              <a:latin typeface="Calibri"/>
              <a:ea typeface="Calibri"/>
              <a:cs typeface="Calibri"/>
              <a:sym typeface="Calibri"/>
            </a:endParaRPr>
          </a:p>
        </p:txBody>
      </p:sp>
      <p:sp>
        <p:nvSpPr>
          <p:cNvPr id="641" name="Google Shape;641;p68"/>
          <p:cNvSpPr/>
          <p:nvPr/>
        </p:nvSpPr>
        <p:spPr>
          <a:xfrm>
            <a:off x="411480" y="2734056"/>
            <a:ext cx="8321040" cy="86868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GET /api/students requires ADMIN because it lists all students.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GET /api/students/{id} requires authentication.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PUT /api/students/{id} should allow only the owner or ADMIN.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6" name="Shape 646"/>
        <p:cNvGrpSpPr/>
        <p:nvPr/>
      </p:nvGrpSpPr>
      <p:grpSpPr>
        <a:xfrm>
          <a:off x="0" y="0"/>
          <a:ext cx="0" cy="0"/>
          <a:chOff x="0" y="0"/>
          <a:chExt cx="0" cy="0"/>
        </a:xfrm>
      </p:grpSpPr>
      <p:sp>
        <p:nvSpPr>
          <p:cNvPr id="647" name="Google Shape;647;p69"/>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How the rule check fits into the request flow</a:t>
            </a:r>
            <a:endParaRPr b="0" i="0" sz="2000" u="none" cap="none" strike="noStrike">
              <a:solidFill>
                <a:schemeClr val="dk1"/>
              </a:solidFill>
              <a:latin typeface="Calibri"/>
              <a:ea typeface="Calibri"/>
              <a:cs typeface="Calibri"/>
              <a:sym typeface="Calibri"/>
            </a:endParaRPr>
          </a:p>
        </p:txBody>
      </p:sp>
      <p:sp>
        <p:nvSpPr>
          <p:cNvPr id="648" name="Google Shape;648;p69"/>
          <p:cNvSpPr/>
          <p:nvPr/>
        </p:nvSpPr>
        <p:spPr>
          <a:xfrm>
            <a:off x="411480" y="859536"/>
            <a:ext cx="8321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Authorization happens after authentication.</a:t>
            </a:r>
            <a:endParaRPr b="0" i="0" sz="1100" u="none" cap="none" strike="noStrike">
              <a:solidFill>
                <a:schemeClr val="dk1"/>
              </a:solidFill>
              <a:latin typeface="Calibri"/>
              <a:ea typeface="Calibri"/>
              <a:cs typeface="Calibri"/>
              <a:sym typeface="Calibri"/>
            </a:endParaRPr>
          </a:p>
        </p:txBody>
      </p:sp>
      <p:sp>
        <p:nvSpPr>
          <p:cNvPr id="649" name="Google Shape;649;p69"/>
          <p:cNvSpPr/>
          <p:nvPr/>
        </p:nvSpPr>
        <p:spPr>
          <a:xfrm>
            <a:off x="411480" y="128930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The flow</a:t>
            </a:r>
            <a:endParaRPr b="0" i="0" sz="1300" u="none" cap="none" strike="noStrike">
              <a:solidFill>
                <a:schemeClr val="dk1"/>
              </a:solidFill>
              <a:latin typeface="Calibri"/>
              <a:ea typeface="Calibri"/>
              <a:cs typeface="Calibri"/>
              <a:sym typeface="Calibri"/>
            </a:endParaRPr>
          </a:p>
        </p:txBody>
      </p:sp>
      <p:sp>
        <p:nvSpPr>
          <p:cNvPr id="650" name="Google Shape;650;p69"/>
          <p:cNvSpPr/>
          <p:nvPr/>
        </p:nvSpPr>
        <p:spPr>
          <a:xfrm>
            <a:off x="411480" y="1563624"/>
            <a:ext cx="8321040" cy="11430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Request arrives.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Spring Security identifies the user.</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Spring Security reads roles for that user.</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Spring Security checks the endpoint rule.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request is allowed or blocked before reaching controller logic.</a:t>
            </a:r>
            <a:endParaRPr b="0" i="0" sz="1100" u="none" cap="none" strike="noStrike">
              <a:solidFill>
                <a:schemeClr val="dk1"/>
              </a:solidFill>
              <a:latin typeface="Calibri"/>
              <a:ea typeface="Calibri"/>
              <a:cs typeface="Calibri"/>
              <a:sym typeface="Calibri"/>
            </a:endParaRPr>
          </a:p>
        </p:txBody>
      </p:sp>
      <p:sp>
        <p:nvSpPr>
          <p:cNvPr id="651" name="Google Shape;651;p69"/>
          <p:cNvSpPr/>
          <p:nvPr/>
        </p:nvSpPr>
        <p:spPr>
          <a:xfrm>
            <a:off x="411480" y="277977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What this protects</a:t>
            </a:r>
            <a:endParaRPr b="0" i="0" sz="1300" u="none" cap="none" strike="noStrike">
              <a:solidFill>
                <a:schemeClr val="dk1"/>
              </a:solidFill>
              <a:latin typeface="Calibri"/>
              <a:ea typeface="Calibri"/>
              <a:cs typeface="Calibri"/>
              <a:sym typeface="Calibri"/>
            </a:endParaRPr>
          </a:p>
        </p:txBody>
      </p:sp>
      <p:sp>
        <p:nvSpPr>
          <p:cNvPr id="652" name="Google Shape;652;p69"/>
          <p:cNvSpPr/>
          <p:nvPr/>
        </p:nvSpPr>
        <p:spPr>
          <a:xfrm>
            <a:off x="411480" y="3054096"/>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Even if a controller method exists, it cannot be reached unless security rules allow it.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657" name="Shape 657"/>
        <p:cNvGrpSpPr/>
        <p:nvPr/>
      </p:nvGrpSpPr>
      <p:grpSpPr>
        <a:xfrm>
          <a:off x="0" y="0"/>
          <a:ext cx="0" cy="0"/>
          <a:chOff x="0" y="0"/>
          <a:chExt cx="0" cy="0"/>
        </a:xfrm>
      </p:grpSpPr>
      <p:sp>
        <p:nvSpPr>
          <p:cNvPr id="658" name="Google Shape;658;p70"/>
          <p:cNvSpPr/>
          <p:nvPr/>
        </p:nvSpPr>
        <p:spPr>
          <a:xfrm>
            <a:off x="0" y="0"/>
            <a:ext cx="9144000" cy="514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Activity</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3" name="Shape 663"/>
        <p:cNvGrpSpPr/>
        <p:nvPr/>
      </p:nvGrpSpPr>
      <p:grpSpPr>
        <a:xfrm>
          <a:off x="0" y="0"/>
          <a:ext cx="0" cy="0"/>
          <a:chOff x="0" y="0"/>
          <a:chExt cx="0" cy="0"/>
        </a:xfrm>
      </p:grpSpPr>
      <p:sp>
        <p:nvSpPr>
          <p:cNvPr id="664" name="Google Shape;664;p71"/>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lang="en" sz="2000">
                <a:solidFill>
                  <a:srgbClr val="0B1F3B"/>
                </a:solidFill>
                <a:latin typeface="Calibri"/>
                <a:ea typeface="Calibri"/>
                <a:cs typeface="Calibri"/>
                <a:sym typeface="Calibri"/>
              </a:rPr>
              <a:t>Activity</a:t>
            </a:r>
            <a:endParaRPr b="0" i="0" sz="2000" u="none" cap="none" strike="noStrike">
              <a:solidFill>
                <a:schemeClr val="dk1"/>
              </a:solidFill>
              <a:latin typeface="Calibri"/>
              <a:ea typeface="Calibri"/>
              <a:cs typeface="Calibri"/>
              <a:sym typeface="Calibri"/>
            </a:endParaRPr>
          </a:p>
        </p:txBody>
      </p:sp>
      <p:sp>
        <p:nvSpPr>
          <p:cNvPr id="665" name="Google Shape;665;p71"/>
          <p:cNvSpPr/>
          <p:nvPr/>
        </p:nvSpPr>
        <p:spPr>
          <a:xfrm>
            <a:off x="411480" y="1378392"/>
            <a:ext cx="83211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You will implement three capabilities in the project.</a:t>
            </a:r>
            <a:endParaRPr b="0" i="0" sz="1100" u="none" cap="none" strike="noStrike">
              <a:solidFill>
                <a:schemeClr val="dk1"/>
              </a:solidFill>
              <a:latin typeface="Calibri"/>
              <a:ea typeface="Calibri"/>
              <a:cs typeface="Calibri"/>
              <a:sym typeface="Calibri"/>
            </a:endParaRPr>
          </a:p>
        </p:txBody>
      </p:sp>
      <p:sp>
        <p:nvSpPr>
          <p:cNvPr id="666" name="Google Shape;666;p71"/>
          <p:cNvSpPr/>
          <p:nvPr/>
        </p:nvSpPr>
        <p:spPr>
          <a:xfrm>
            <a:off x="411480" y="1770662"/>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Capability 1: User signup</a:t>
            </a:r>
            <a:endParaRPr b="0" i="0" sz="1300" u="none" cap="none" strike="noStrike">
              <a:solidFill>
                <a:schemeClr val="dk1"/>
              </a:solidFill>
              <a:latin typeface="Calibri"/>
              <a:ea typeface="Calibri"/>
              <a:cs typeface="Calibri"/>
              <a:sym typeface="Calibri"/>
            </a:endParaRPr>
          </a:p>
        </p:txBody>
      </p:sp>
      <p:sp>
        <p:nvSpPr>
          <p:cNvPr id="667" name="Google Shape;667;p71"/>
          <p:cNvSpPr/>
          <p:nvPr/>
        </p:nvSpPr>
        <p:spPr>
          <a:xfrm>
            <a:off x="411480" y="2044982"/>
            <a:ext cx="8321100" cy="7314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Create a new user in the users collection.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Store email, passwordHash, roles, enabled.</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Enforce unique email.</a:t>
            </a:r>
            <a:endParaRPr b="0" i="0" sz="1100" u="none" cap="none" strike="noStrike">
              <a:solidFill>
                <a:schemeClr val="dk1"/>
              </a:solidFill>
              <a:latin typeface="Calibri"/>
              <a:ea typeface="Calibri"/>
              <a:cs typeface="Calibri"/>
              <a:sym typeface="Calibri"/>
            </a:endParaRPr>
          </a:p>
        </p:txBody>
      </p:sp>
      <p:sp>
        <p:nvSpPr>
          <p:cNvPr id="668" name="Google Shape;668;p71"/>
          <p:cNvSpPr/>
          <p:nvPr/>
        </p:nvSpPr>
        <p:spPr>
          <a:xfrm>
            <a:off x="411480" y="2849654"/>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Capability 2: Secure endpoints with Basic authentication</a:t>
            </a:r>
            <a:endParaRPr b="0" i="0" sz="1300" u="none" cap="none" strike="noStrike">
              <a:solidFill>
                <a:schemeClr val="dk1"/>
              </a:solidFill>
              <a:latin typeface="Calibri"/>
              <a:ea typeface="Calibri"/>
              <a:cs typeface="Calibri"/>
              <a:sym typeface="Calibri"/>
            </a:endParaRPr>
          </a:p>
        </p:txBody>
      </p:sp>
      <p:sp>
        <p:nvSpPr>
          <p:cNvPr id="669" name="Google Shape;669;p71"/>
          <p:cNvSpPr/>
          <p:nvPr/>
        </p:nvSpPr>
        <p:spPr>
          <a:xfrm>
            <a:off x="411480" y="3123974"/>
            <a:ext cx="8321100" cy="5487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Require authentication for protected endpoints.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Verify credentials against the users collection.</a:t>
            </a:r>
            <a:endParaRPr b="0" i="0" sz="1100" u="none" cap="none" strike="noStrike">
              <a:solidFill>
                <a:schemeClr val="dk1"/>
              </a:solidFill>
              <a:latin typeface="Calibri"/>
              <a:ea typeface="Calibri"/>
              <a:cs typeface="Calibri"/>
              <a:sym typeface="Calibri"/>
            </a:endParaRPr>
          </a:p>
        </p:txBody>
      </p:sp>
      <p:sp>
        <p:nvSpPr>
          <p:cNvPr id="670" name="Google Shape;670;p71"/>
          <p:cNvSpPr/>
          <p:nvPr/>
        </p:nvSpPr>
        <p:spPr>
          <a:xfrm>
            <a:off x="411480" y="3745766"/>
            <a:ext cx="8321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Capability 3: Role-based protection</a:t>
            </a:r>
            <a:endParaRPr b="0" i="0" sz="1300" u="none" cap="none" strike="noStrike">
              <a:solidFill>
                <a:schemeClr val="dk1"/>
              </a:solidFill>
              <a:latin typeface="Calibri"/>
              <a:ea typeface="Calibri"/>
              <a:cs typeface="Calibri"/>
              <a:sym typeface="Calibri"/>
            </a:endParaRPr>
          </a:p>
        </p:txBody>
      </p:sp>
      <p:sp>
        <p:nvSpPr>
          <p:cNvPr id="671" name="Google Shape;671;p71"/>
          <p:cNvSpPr/>
          <p:nvPr/>
        </p:nvSpPr>
        <p:spPr>
          <a:xfrm>
            <a:off x="411480" y="4020086"/>
            <a:ext cx="8321100" cy="54870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Restrict course creation and deletion to ADMIN.</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Allow course listing for both STUDENT and ADMIN.</a:t>
            </a:r>
            <a:endParaRPr b="0" i="0" sz="1100" u="none" cap="none" strike="noStrike">
              <a:solidFill>
                <a:schemeClr val="dk1"/>
              </a:solidFill>
              <a:latin typeface="Calibri"/>
              <a:ea typeface="Calibri"/>
              <a:cs typeface="Calibri"/>
              <a:sym typeface="Calibri"/>
            </a:endParaRPr>
          </a:p>
        </p:txBody>
      </p:sp>
      <p:sp>
        <p:nvSpPr>
          <p:cNvPr id="672" name="Google Shape;672;p71"/>
          <p:cNvSpPr/>
          <p:nvPr/>
        </p:nvSpPr>
        <p:spPr>
          <a:xfrm>
            <a:off x="411480" y="685811"/>
            <a:ext cx="83211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Add authentication and basic authorization to our Spring Boot API using a DB-backed user collection. By the end, protected endpoints should return 401 or 403 correctly, based on who is calling.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7" name="Shape 677"/>
        <p:cNvGrpSpPr/>
        <p:nvPr/>
      </p:nvGrpSpPr>
      <p:grpSpPr>
        <a:xfrm>
          <a:off x="0" y="0"/>
          <a:ext cx="0" cy="0"/>
          <a:chOff x="0" y="0"/>
          <a:chExt cx="0" cy="0"/>
        </a:xfrm>
      </p:grpSpPr>
      <p:sp>
        <p:nvSpPr>
          <p:cNvPr id="678" name="Google Shape;678;p72"/>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lang="en" sz="2000">
                <a:solidFill>
                  <a:srgbClr val="0B1F3B"/>
                </a:solidFill>
                <a:latin typeface="Calibri"/>
                <a:ea typeface="Calibri"/>
                <a:cs typeface="Calibri"/>
                <a:sym typeface="Calibri"/>
              </a:rPr>
              <a:t>T</a:t>
            </a:r>
            <a:r>
              <a:rPr b="1" i="0" lang="en" sz="2000" u="none" cap="none" strike="noStrike">
                <a:solidFill>
                  <a:srgbClr val="0B1F3B"/>
                </a:solidFill>
                <a:latin typeface="Calibri"/>
                <a:ea typeface="Calibri"/>
                <a:cs typeface="Calibri"/>
                <a:sym typeface="Calibri"/>
              </a:rPr>
              <a:t>esting using Postman</a:t>
            </a:r>
            <a:endParaRPr b="0" i="0" sz="2000" u="none" cap="none" strike="noStrike">
              <a:solidFill>
                <a:schemeClr val="dk1"/>
              </a:solidFill>
              <a:latin typeface="Calibri"/>
              <a:ea typeface="Calibri"/>
              <a:cs typeface="Calibri"/>
              <a:sym typeface="Calibri"/>
            </a:endParaRPr>
          </a:p>
        </p:txBody>
      </p:sp>
      <p:sp>
        <p:nvSpPr>
          <p:cNvPr id="679" name="Google Shape;679;p72"/>
          <p:cNvSpPr/>
          <p:nvPr/>
        </p:nvSpPr>
        <p:spPr>
          <a:xfrm>
            <a:off x="411480" y="859536"/>
            <a:ext cx="8321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lang="en" sz="1100">
                <a:solidFill>
                  <a:srgbClr val="1F2937"/>
                </a:solidFill>
                <a:latin typeface="Calibri"/>
                <a:ea typeface="Calibri"/>
                <a:cs typeface="Calibri"/>
                <a:sym typeface="Calibri"/>
              </a:rPr>
              <a:t>We’ll</a:t>
            </a:r>
            <a:r>
              <a:rPr b="0" i="0" lang="en" sz="1100" u="none" cap="none" strike="noStrike">
                <a:solidFill>
                  <a:srgbClr val="1F2937"/>
                </a:solidFill>
                <a:latin typeface="Calibri"/>
                <a:ea typeface="Calibri"/>
                <a:cs typeface="Calibri"/>
                <a:sym typeface="Calibri"/>
              </a:rPr>
              <a:t> run these checks and note the outcomes.</a:t>
            </a:r>
            <a:endParaRPr b="0" i="0" sz="1100" u="none" cap="none" strike="noStrike">
              <a:solidFill>
                <a:schemeClr val="dk1"/>
              </a:solidFill>
              <a:latin typeface="Calibri"/>
              <a:ea typeface="Calibri"/>
              <a:cs typeface="Calibri"/>
              <a:sym typeface="Calibri"/>
            </a:endParaRPr>
          </a:p>
        </p:txBody>
      </p:sp>
      <p:sp>
        <p:nvSpPr>
          <p:cNvPr id="680" name="Google Shape;680;p72"/>
          <p:cNvSpPr/>
          <p:nvPr/>
        </p:nvSpPr>
        <p:spPr>
          <a:xfrm>
            <a:off x="411480" y="1353312"/>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Check 1</a:t>
            </a:r>
            <a:endParaRPr b="0" i="0" sz="1300" u="none" cap="none" strike="noStrike">
              <a:solidFill>
                <a:schemeClr val="dk1"/>
              </a:solidFill>
              <a:latin typeface="Calibri"/>
              <a:ea typeface="Calibri"/>
              <a:cs typeface="Calibri"/>
              <a:sym typeface="Calibri"/>
            </a:endParaRPr>
          </a:p>
        </p:txBody>
      </p:sp>
      <p:sp>
        <p:nvSpPr>
          <p:cNvPr id="681" name="Google Shape;681;p72"/>
          <p:cNvSpPr/>
          <p:nvPr/>
        </p:nvSpPr>
        <p:spPr>
          <a:xfrm>
            <a:off x="411480" y="1627632"/>
            <a:ext cx="8321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Call POST /courses without credentials. Expected result is 401.</a:t>
            </a:r>
            <a:endParaRPr b="0" i="0" sz="1100" u="none" cap="none" strike="noStrike">
              <a:solidFill>
                <a:schemeClr val="dk1"/>
              </a:solidFill>
              <a:latin typeface="Calibri"/>
              <a:ea typeface="Calibri"/>
              <a:cs typeface="Calibri"/>
              <a:sym typeface="Calibri"/>
            </a:endParaRPr>
          </a:p>
        </p:txBody>
      </p:sp>
      <p:sp>
        <p:nvSpPr>
          <p:cNvPr id="682" name="Google Shape;682;p72"/>
          <p:cNvSpPr/>
          <p:nvPr/>
        </p:nvSpPr>
        <p:spPr>
          <a:xfrm>
            <a:off x="411480" y="2057400"/>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Check 2</a:t>
            </a:r>
            <a:endParaRPr b="0" i="0" sz="1300" u="none" cap="none" strike="noStrike">
              <a:solidFill>
                <a:schemeClr val="dk1"/>
              </a:solidFill>
              <a:latin typeface="Calibri"/>
              <a:ea typeface="Calibri"/>
              <a:cs typeface="Calibri"/>
              <a:sym typeface="Calibri"/>
            </a:endParaRPr>
          </a:p>
        </p:txBody>
      </p:sp>
      <p:sp>
        <p:nvSpPr>
          <p:cNvPr id="683" name="Google Shape;683;p72"/>
          <p:cNvSpPr/>
          <p:nvPr/>
        </p:nvSpPr>
        <p:spPr>
          <a:xfrm>
            <a:off x="411480" y="23317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Signup a STUDENT user and call POST /courses with those credentials. Expected result is 403.</a:t>
            </a:r>
            <a:endParaRPr b="0" i="0" sz="1100" u="none" cap="none" strike="noStrike">
              <a:solidFill>
                <a:schemeClr val="dk1"/>
              </a:solidFill>
              <a:latin typeface="Calibri"/>
              <a:ea typeface="Calibri"/>
              <a:cs typeface="Calibri"/>
              <a:sym typeface="Calibri"/>
            </a:endParaRPr>
          </a:p>
        </p:txBody>
      </p:sp>
      <p:sp>
        <p:nvSpPr>
          <p:cNvPr id="684" name="Google Shape;684;p72"/>
          <p:cNvSpPr/>
          <p:nvPr/>
        </p:nvSpPr>
        <p:spPr>
          <a:xfrm>
            <a:off x="411480" y="2852928"/>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Check 3</a:t>
            </a:r>
            <a:endParaRPr b="0" i="0" sz="1300" u="none" cap="none" strike="noStrike">
              <a:solidFill>
                <a:schemeClr val="dk1"/>
              </a:solidFill>
              <a:latin typeface="Calibri"/>
              <a:ea typeface="Calibri"/>
              <a:cs typeface="Calibri"/>
              <a:sym typeface="Calibri"/>
            </a:endParaRPr>
          </a:p>
        </p:txBody>
      </p:sp>
      <p:sp>
        <p:nvSpPr>
          <p:cNvPr id="685" name="Google Shape;685;p72"/>
          <p:cNvSpPr/>
          <p:nvPr/>
        </p:nvSpPr>
        <p:spPr>
          <a:xfrm>
            <a:off x="411480" y="3127248"/>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Signup an ADMIN user and call POST /courses with those credentials. Expected result is 200 or 201.</a:t>
            </a:r>
            <a:endParaRPr b="0" i="0" sz="1100" u="none" cap="none" strike="noStrike">
              <a:solidFill>
                <a:schemeClr val="dk1"/>
              </a:solidFill>
              <a:latin typeface="Calibri"/>
              <a:ea typeface="Calibri"/>
              <a:cs typeface="Calibri"/>
              <a:sym typeface="Calibri"/>
            </a:endParaRPr>
          </a:p>
        </p:txBody>
      </p:sp>
      <p:sp>
        <p:nvSpPr>
          <p:cNvPr id="686" name="Google Shape;686;p72"/>
          <p:cNvSpPr/>
          <p:nvPr/>
        </p:nvSpPr>
        <p:spPr>
          <a:xfrm>
            <a:off x="411480" y="3648456"/>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Check 4</a:t>
            </a:r>
            <a:endParaRPr b="0" i="0" sz="1300" u="none" cap="none" strike="noStrike">
              <a:solidFill>
                <a:schemeClr val="dk1"/>
              </a:solidFill>
              <a:latin typeface="Calibri"/>
              <a:ea typeface="Calibri"/>
              <a:cs typeface="Calibri"/>
              <a:sym typeface="Calibri"/>
            </a:endParaRPr>
          </a:p>
        </p:txBody>
      </p:sp>
      <p:sp>
        <p:nvSpPr>
          <p:cNvPr id="687" name="Google Shape;687;p72"/>
          <p:cNvSpPr/>
          <p:nvPr/>
        </p:nvSpPr>
        <p:spPr>
          <a:xfrm>
            <a:off x="411480" y="3922776"/>
            <a:ext cx="8321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Call GET /api/courses with a STUDENT user. Expected result is 200.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2" name="Shape 692"/>
        <p:cNvGrpSpPr/>
        <p:nvPr/>
      </p:nvGrpSpPr>
      <p:grpSpPr>
        <a:xfrm>
          <a:off x="0" y="0"/>
          <a:ext cx="0" cy="0"/>
          <a:chOff x="0" y="0"/>
          <a:chExt cx="0" cy="0"/>
        </a:xfrm>
      </p:grpSpPr>
      <p:sp>
        <p:nvSpPr>
          <p:cNvPr id="693" name="Google Shape;693;p73"/>
          <p:cNvSpPr/>
          <p:nvPr/>
        </p:nvSpPr>
        <p:spPr>
          <a:xfrm>
            <a:off x="411480" y="274320"/>
            <a:ext cx="8321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2000"/>
              <a:buFont typeface="Calibri"/>
              <a:buNone/>
            </a:pPr>
            <a:r>
              <a:rPr b="1" i="0" lang="en" sz="2000" u="none" cap="none" strike="noStrike">
                <a:solidFill>
                  <a:srgbClr val="0B1F3B"/>
                </a:solidFill>
                <a:latin typeface="Calibri"/>
                <a:ea typeface="Calibri"/>
                <a:cs typeface="Calibri"/>
                <a:sym typeface="Calibri"/>
              </a:rPr>
              <a:t>Success criteria</a:t>
            </a:r>
            <a:endParaRPr b="0" i="0" sz="2000" u="none" cap="none" strike="noStrike">
              <a:solidFill>
                <a:schemeClr val="dk1"/>
              </a:solidFill>
              <a:latin typeface="Calibri"/>
              <a:ea typeface="Calibri"/>
              <a:cs typeface="Calibri"/>
              <a:sym typeface="Calibri"/>
            </a:endParaRPr>
          </a:p>
        </p:txBody>
      </p:sp>
      <p:sp>
        <p:nvSpPr>
          <p:cNvPr id="694" name="Google Shape;694;p73"/>
          <p:cNvSpPr/>
          <p:nvPr/>
        </p:nvSpPr>
        <p:spPr>
          <a:xfrm>
            <a:off x="411480" y="859536"/>
            <a:ext cx="8321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lang="en" sz="1100">
                <a:solidFill>
                  <a:srgbClr val="1F2937"/>
                </a:solidFill>
                <a:latin typeface="Calibri"/>
                <a:ea typeface="Calibri"/>
                <a:cs typeface="Calibri"/>
                <a:sym typeface="Calibri"/>
              </a:rPr>
              <a:t>The</a:t>
            </a:r>
            <a:r>
              <a:rPr b="0" i="0" lang="en" sz="1100" u="none" cap="none" strike="noStrike">
                <a:solidFill>
                  <a:srgbClr val="1F2937"/>
                </a:solidFill>
                <a:latin typeface="Calibri"/>
                <a:ea typeface="Calibri"/>
                <a:cs typeface="Calibri"/>
                <a:sym typeface="Calibri"/>
              </a:rPr>
              <a:t> submission </a:t>
            </a:r>
            <a:r>
              <a:rPr lang="en" sz="1100">
                <a:solidFill>
                  <a:srgbClr val="1F2937"/>
                </a:solidFill>
                <a:latin typeface="Calibri"/>
                <a:ea typeface="Calibri"/>
                <a:cs typeface="Calibri"/>
                <a:sym typeface="Calibri"/>
              </a:rPr>
              <a:t>will be valid</a:t>
            </a:r>
            <a:r>
              <a:rPr b="0" i="0" lang="en" sz="1100" u="none" cap="none" strike="noStrike">
                <a:solidFill>
                  <a:srgbClr val="1F2937"/>
                </a:solidFill>
                <a:latin typeface="Calibri"/>
                <a:ea typeface="Calibri"/>
                <a:cs typeface="Calibri"/>
                <a:sym typeface="Calibri"/>
              </a:rPr>
              <a:t> when these are true.</a:t>
            </a:r>
            <a:endParaRPr b="0" i="0" sz="1100" u="none" cap="none" strike="noStrike">
              <a:solidFill>
                <a:schemeClr val="dk1"/>
              </a:solidFill>
              <a:latin typeface="Calibri"/>
              <a:ea typeface="Calibri"/>
              <a:cs typeface="Calibri"/>
              <a:sym typeface="Calibri"/>
            </a:endParaRPr>
          </a:p>
        </p:txBody>
      </p:sp>
      <p:sp>
        <p:nvSpPr>
          <p:cNvPr id="695" name="Google Shape;695;p73"/>
          <p:cNvSpPr/>
          <p:nvPr/>
        </p:nvSpPr>
        <p:spPr>
          <a:xfrm>
            <a:off x="411480" y="1353312"/>
            <a:ext cx="8321040" cy="123444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Users are stored in MongoDB and email is unique.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Basic authentication reads users from MongoDB, not in memory.</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API returns 401 for missing or wrong credentials.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The API returns 403 for valid users without required role.</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ADMIN can create and delete courses.</a:t>
            </a:r>
            <a:endParaRPr b="0" i="0" sz="11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1F2937"/>
              </a:buClr>
              <a:buSzPts val="1100"/>
              <a:buFont typeface="Calibri"/>
              <a:buChar char="•"/>
            </a:pPr>
            <a:r>
              <a:rPr b="0" i="0" lang="en" sz="1100" u="none" cap="none" strike="noStrike">
                <a:solidFill>
                  <a:srgbClr val="1F2937"/>
                </a:solidFill>
                <a:latin typeface="Calibri"/>
                <a:ea typeface="Calibri"/>
                <a:cs typeface="Calibri"/>
                <a:sym typeface="Calibri"/>
              </a:rPr>
              <a:t>STUDENT can view courses.</a:t>
            </a:r>
            <a:endParaRPr b="0" i="0" sz="1100" u="none" cap="none" strike="noStrike">
              <a:solidFill>
                <a:schemeClr val="dk1"/>
              </a:solidFill>
              <a:latin typeface="Calibri"/>
              <a:ea typeface="Calibri"/>
              <a:cs typeface="Calibri"/>
              <a:sym typeface="Calibri"/>
            </a:endParaRPr>
          </a:p>
        </p:txBody>
      </p:sp>
      <p:sp>
        <p:nvSpPr>
          <p:cNvPr id="696" name="Google Shape;696;p73"/>
          <p:cNvSpPr/>
          <p:nvPr/>
        </p:nvSpPr>
        <p:spPr>
          <a:xfrm>
            <a:off x="411480" y="2660904"/>
            <a:ext cx="83210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1F3B"/>
              </a:buClr>
              <a:buSzPts val="1300"/>
              <a:buFont typeface="Calibri"/>
              <a:buNone/>
            </a:pPr>
            <a:r>
              <a:rPr b="1" i="0" lang="en" sz="1300" u="none" cap="none" strike="noStrike">
                <a:solidFill>
                  <a:srgbClr val="0B1F3B"/>
                </a:solidFill>
                <a:latin typeface="Calibri"/>
                <a:ea typeface="Calibri"/>
                <a:cs typeface="Calibri"/>
                <a:sym typeface="Calibri"/>
              </a:rPr>
              <a:t>Optional extension if time remains</a:t>
            </a:r>
            <a:endParaRPr b="0" i="0" sz="1300" u="none" cap="none" strike="noStrike">
              <a:solidFill>
                <a:schemeClr val="dk1"/>
              </a:solidFill>
              <a:latin typeface="Calibri"/>
              <a:ea typeface="Calibri"/>
              <a:cs typeface="Calibri"/>
              <a:sym typeface="Calibri"/>
            </a:endParaRPr>
          </a:p>
        </p:txBody>
      </p:sp>
      <p:sp>
        <p:nvSpPr>
          <p:cNvPr id="697" name="Google Shape;697;p73"/>
          <p:cNvSpPr/>
          <p:nvPr/>
        </p:nvSpPr>
        <p:spPr>
          <a:xfrm>
            <a:off x="411480" y="2935224"/>
            <a:ext cx="8321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100"/>
              <a:buFont typeface="Calibri"/>
              <a:buNone/>
            </a:pPr>
            <a:r>
              <a:rPr b="0" i="0" lang="en" sz="1100" u="none" cap="none" strike="noStrike">
                <a:solidFill>
                  <a:srgbClr val="1F2937"/>
                </a:solidFill>
                <a:latin typeface="Calibri"/>
                <a:ea typeface="Calibri"/>
                <a:cs typeface="Calibri"/>
                <a:sym typeface="Calibri"/>
              </a:rPr>
              <a:t>Protect GET /students so only ADMIN can access it.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B"/>
        </a:solidFill>
      </p:bgPr>
    </p:bg>
    <p:spTree>
      <p:nvGrpSpPr>
        <p:cNvPr id="702" name="Shape 702"/>
        <p:cNvGrpSpPr/>
        <p:nvPr/>
      </p:nvGrpSpPr>
      <p:grpSpPr>
        <a:xfrm>
          <a:off x="0" y="0"/>
          <a:ext cx="0" cy="0"/>
          <a:chOff x="0" y="0"/>
          <a:chExt cx="0" cy="0"/>
        </a:xfrm>
      </p:grpSpPr>
      <p:sp>
        <p:nvSpPr>
          <p:cNvPr id="703" name="Google Shape;703;p74"/>
          <p:cNvSpPr/>
          <p:nvPr/>
        </p:nvSpPr>
        <p:spPr>
          <a:xfrm>
            <a:off x="0" y="0"/>
            <a:ext cx="9144000" cy="514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500"/>
              <a:buFont typeface="Calibri"/>
              <a:buNone/>
            </a:pPr>
            <a:r>
              <a:rPr b="1" lang="en" sz="2500">
                <a:solidFill>
                  <a:srgbClr val="FFFFFF"/>
                </a:solidFill>
                <a:latin typeface="Calibri"/>
                <a:ea typeface="Calibri"/>
                <a:cs typeface="Calibri"/>
                <a:sym typeface="Calibri"/>
              </a:rPr>
              <a:t>That’s a wrap!</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